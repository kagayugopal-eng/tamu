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39"/>
  </p:notesMasterIdLst>
  <p:sldIdLst>
    <p:sldId id="256" r:id="rId5"/>
    <p:sldId id="257" r:id="rId6"/>
    <p:sldId id="291" r:id="rId44"/>
    <p:sldId id="258" r:id="rId7"/>
    <p:sldId id="259" r:id="rId8"/>
    <p:sldId id="295" r:id="rId48"/>
    <p:sldId id="296" r:id="rId49"/>
    <p:sldId id="297" r:id="rId50"/>
    <p:sldId id="298" r:id="rId51"/>
    <p:sldId id="299" r:id="rId52"/>
    <p:sldId id="300" r:id="rId53"/>
    <p:sldId id="292" r:id="rId45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93" r:id="rId46"/>
    <p:sldId id="276" r:id="rId24"/>
    <p:sldId id="277" r:id="rId25"/>
    <p:sldId id="278" r:id="rId26"/>
    <p:sldId id="279" r:id="rId27"/>
    <p:sldId id="280" r:id="rId28"/>
    <p:sldId id="294" r:id="rId47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3.xml"/><Relationship Id="rId45" Type="http://schemas.openxmlformats.org/officeDocument/2006/relationships/slide" Target="slides/slide6.xml"/><Relationship Id="rId46" Type="http://schemas.openxmlformats.org/officeDocument/2006/relationships/slide" Target="slides/slide22.xml"/><Relationship Id="rId47" Type="http://schemas.openxmlformats.org/officeDocument/2006/relationships/slide" Target="slides/slide2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Disprz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視聴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4FB6BE"/>
                </a:solidFill>
                <a:latin typeface="Yu Gothic"/>
              </a:rPr>
              <a:t>① 書類をそろえる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書類をそろえる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4FB6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新必要書類チェック表  →  ファイル名のルール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形式・画質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マイナンバーカードやパスポートでも可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E12A82"/>
                </a:solidFill>
                <a:latin typeface="Yu Gothic"/>
              </a:rPr>
              <a:t>② クラウドサイン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クラウドサインで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契約書を送る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E12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テンプレート選択  →  送付先の設定  →  入力項目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送信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配送金額の別紙を添付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入力する場所は3か所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1148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329184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3063240"/>
            <a:ext cx="5577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11880"/>
            <a:ext cx="5212080" cy="1554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endParaRPr sz="1600" b="1">
              <a:solidFill>
                <a:srgbClr val="333333"/>
              </a:solidFill>
              <a:latin typeface="Yu Gothic"/>
            </a:endParaRP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7220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329184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3063240"/>
            <a:ext cx="5577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212080" cy="1554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endParaRPr sz="1600" b="1">
              <a:solidFill>
                <a:srgbClr val="333333"/>
              </a:solidFill>
              <a:latin typeface="Yu Gothic"/>
            </a:endParaRP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39496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10972800" cy="7772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登録のあとで、バイカー・ウォーカーから軽バンに変えたいとき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アカウントを消して、作り直しになります（最初のタイプ選びに注意）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別紙（配送金額）を添付して「次へ」</a:t>
            </a:r>
          </a:p>
        </p:txBody>
      </p:sp>
      <p:pic>
        <p:nvPicPr>
          <p:cNvPr id="5" name="Picture 4" descr="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648754" cy="38404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710540" y="2283642"/>
            <a:ext cx="862181" cy="1119823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463652" y="203675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1743" y="4864090"/>
            <a:ext cx="789719" cy="254306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024855" y="46172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8834" y="1463040"/>
            <a:ext cx="3461205" cy="17373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416850" y="1636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914" y="1554480"/>
            <a:ext cx="2729685" cy="1554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配送金額が載っている別紙（PDF）を、右のアップロードに添付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8834" y="3474720"/>
            <a:ext cx="3461205" cy="822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416850" y="36941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8914" y="3474720"/>
            <a:ext cx="2729685" cy="8229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「次へ」をクリック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この画面で、入力項目を確認する（次の3か所に入力する）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97480" y="1280160"/>
            <a:ext cx="16459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280160"/>
            <a:ext cx="71323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氏名は、すべて免許証に載っている漢字で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　拠点が入力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ドライバーの署名と同じ漢字で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1325880"/>
            <a:ext cx="603504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Yu Gothic"/>
              </a:rPr>
              <a:t>赤枠：ドライバーが入力　／　緑枠：拠点が入力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送信は1通240円（税込）。送る前に、送付先（名前・メールアドレス）をもう一度確認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F29A3C"/>
                </a:solidFill>
                <a:latin typeface="Yu Gothic"/>
              </a:rPr>
              <a:t>③ Amazon登録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Amazonの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アカウント登録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  →  アカウント作成  →  アプリ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サインイン  →  開始する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98348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4983480"/>
            <a:ext cx="667512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バイカー・ウォーカー→軽バンに変更：アカウントを消して作り直し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5715000"/>
            <a:ext cx="69494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0600" y="5715000"/>
            <a:ext cx="6675120" cy="594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③-1で決めたパスワード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126EC9"/>
                </a:solidFill>
                <a:latin typeface="Yu Gothic"/>
              </a:rPr>
              <a:t>④ Disprz視聴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Disprzで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ガイダンスを視聴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126E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  →  アプリ取得  →  ログイン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ガイダンスをすべてクリア  →  100%で報告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Disprz視聴の流れ（メール〜ガイダンス）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113385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1">
                <a:solidFill>
                  <a:srgbClr val="666666"/>
                </a:solidFill>
                <a:latin typeface="Yu Gothic"/>
              </a:rPr>
              <a:t>Disprzからメールが届く → アプリを取得 → メールのID・パスワードでログイン → ガイダンスを全部クリア</a:t>
            </a:r>
          </a:p>
        </p:txBody>
      </p:sp>
      <p:pic>
        <p:nvPicPr>
          <p:cNvPr id="6" name="Picture 5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7" name="Oval 6"/>
          <p:cNvSpPr/>
          <p:nvPr/>
        </p:nvSpPr>
        <p:spPr>
          <a:xfrm>
            <a:off x="356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メールが届く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0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0" name="Picture 9" descr="d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1" name="Oval 10"/>
          <p:cNvSpPr/>
          <p:nvPr/>
        </p:nvSpPr>
        <p:spPr>
          <a:xfrm>
            <a:off x="2642615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ID・パスワード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を確認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6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4" name="Picture 13" descr="d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5" name="Oval 14"/>
          <p:cNvSpPr/>
          <p:nvPr/>
        </p:nvSpPr>
        <p:spPr>
          <a:xfrm>
            <a:off x="4928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ログイン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2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8" name="Picture 17" descr="d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9" name="Oval 18"/>
          <p:cNvSpPr/>
          <p:nvPr/>
        </p:nvSpPr>
        <p:spPr>
          <a:xfrm>
            <a:off x="7214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ガイダンスを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タップ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8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22" name="Picture 21" descr="d1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3" name="Oval 22"/>
          <p:cNvSpPr/>
          <p:nvPr/>
        </p:nvSpPr>
        <p:spPr>
          <a:xfrm>
            <a:off x="9500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すべてクリア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Disprzからメールが届く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262854"/>
            <a:ext cx="2121448" cy="33591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18634" y="2430814"/>
            <a:ext cx="232204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3879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5649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Disprzからのメール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4054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案内どおりに進める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3931920"/>
            <a:ext cx="6355080" cy="11887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7840" y="3931920"/>
            <a:ext cx="6035040" cy="11887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⚠ メールが届かないときは</a:t>
            </a:r>
          </a:p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登録チームへ報告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アプリを取得する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4618760"/>
            <a:ext cx="1033047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2333332" y="4106788"/>
            <a:ext cx="3107348" cy="626201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91476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832468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Google Play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216516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Android の人はこちらのリンク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861240"/>
            <a:ext cx="964161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2264446" y="4975468"/>
            <a:ext cx="3176234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78344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701148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Apple App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5085196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iPhone の人はこちらのリンク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463040"/>
            <a:ext cx="6355080" cy="8229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お使いのスマートフォンに応じて、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メールのリンクからアプリをダウンロード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メールのID・パスワードを確認する</a:t>
            </a:r>
          </a:p>
        </p:txBody>
      </p:sp>
      <p:pic>
        <p:nvPicPr>
          <p:cNvPr id="5" name="Picture 4" descr="d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3122553"/>
            <a:ext cx="1170819" cy="15957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2471104" y="2798615"/>
            <a:ext cx="2969576" cy="40372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0659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24295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組織のURL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08343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アプリで「組織のURLとともに」をタップして貼り付け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329439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2650208" y="3667295"/>
            <a:ext cx="2790472" cy="7446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47527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392975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777023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00284" y="4453434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2650208" y="4535975"/>
            <a:ext cx="2790472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434395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261655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645703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アプリでログインする</a:t>
            </a:r>
          </a:p>
        </p:txBody>
      </p:sp>
      <p:pic>
        <p:nvPicPr>
          <p:cNvPr id="5" name="Picture 4" descr="d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85360" y="4701424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3024949" y="3977946"/>
            <a:ext cx="2415731" cy="88179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78592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70362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08767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85360" y="5161583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3024949" y="4846626"/>
            <a:ext cx="2415731" cy="473273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6546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57230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95635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2914" y="5550101"/>
            <a:ext cx="1881724" cy="33040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2994639" y="5715306"/>
            <a:ext cx="2446041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552328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44098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582503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「オンボーディングガイダンス」をタップ</a:t>
            </a:r>
          </a:p>
        </p:txBody>
      </p:sp>
      <p:pic>
        <p:nvPicPr>
          <p:cNvPr id="5" name="Picture 4" descr="d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55854" y="4571918"/>
            <a:ext cx="1192863" cy="1548315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148717" y="5346076"/>
            <a:ext cx="3291963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515405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07175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オンボーディングガイダンス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45580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中身をすべてクリアする</a:t>
            </a:r>
          </a:p>
        </p:txBody>
      </p:sp>
      <p:pic>
        <p:nvPicPr>
          <p:cNvPr id="5" name="Picture 4" descr="d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1674" y="3158374"/>
            <a:ext cx="2126959" cy="258987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18634" y="4453311"/>
            <a:ext cx="2322046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42612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7899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4つの項目をすべてクリア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56303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上から順に進める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すべて「完了」になる（5/5）</a:t>
            </a:r>
          </a:p>
        </p:txBody>
      </p:sp>
      <p:pic>
        <p:nvPicPr>
          <p:cNvPr id="5" name="Picture 4" descr="d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650453" y="2689948"/>
            <a:ext cx="454403" cy="2339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04857" y="2806932"/>
            <a:ext cx="2335823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14908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32612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5/5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16660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 5/5 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7606" y="3654354"/>
            <a:ext cx="335919" cy="206633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063525" y="4687524"/>
            <a:ext cx="2377155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495500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1320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4つとも「完了」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79725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4つのガイダンスがすべて完了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ホームで「100%」を確認</a:t>
            </a:r>
          </a:p>
        </p:txBody>
      </p:sp>
      <p:pic>
        <p:nvPicPr>
          <p:cNvPr id="5" name="Picture 4" descr="d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174679"/>
            <a:ext cx="542578" cy="661062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1539763" y="2505211"/>
            <a:ext cx="3900917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3131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23089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完了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1493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すべてクリアすると、100% になる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100%になったら登録チームに報告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1560" y="1691640"/>
            <a:ext cx="640080" cy="640080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6304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ホームで、完了が 100% になっているか確認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514600"/>
            <a:ext cx="91440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51560" y="3108960"/>
            <a:ext cx="640080" cy="640080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88036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100% になったら、登録チームに報告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931920"/>
            <a:ext cx="91440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51560" y="4526280"/>
            <a:ext cx="640080" cy="640080"/>
          </a:xfrm>
          <a:prstGeom prst="ellipse">
            <a:avLst/>
          </a:prstGeom>
          <a:solidFill>
            <a:srgbClr val="126EC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29768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登録チームから、完了のお知らせが届く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車両書類の確認ポイント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3639312" cy="3931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3639312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554480"/>
            <a:ext cx="3639312" cy="27432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3639312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車検証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使用者がご本人（持込の方）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事業用になっている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最大積載量が 350 になっている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有効期限が切れていない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33672" y="1325880"/>
            <a:ext cx="3639312" cy="39319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33672" y="1325880"/>
            <a:ext cx="3639312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554480"/>
            <a:ext cx="3639312" cy="27432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1325880"/>
            <a:ext cx="3639312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自賠責保険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19659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有効期限が切れていない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69748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車台番号が車検証と一致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3" y="1325880"/>
            <a:ext cx="3639312" cy="393192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905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55863" y="1325880"/>
            <a:ext cx="3639312" cy="50292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3" y="1554480"/>
            <a:ext cx="3639312" cy="27432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3" y="1325880"/>
            <a:ext cx="3639312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任意保険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19659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有効期限が切れていない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3" y="269748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車台番号が車検証と一致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対人・対物が無制限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3" y="41605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人身傷害が 3,000万円以上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4406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440680"/>
            <a:ext cx="109728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車台番号は、車検証・自賠責保険・任意保険の3つがすべて同じ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車検証（自動車検査証記録事項）</a:t>
            </a:r>
          </a:p>
        </p:txBody>
      </p:sp>
      <p:pic>
        <p:nvPicPr>
          <p:cNvPr id="5" name="Picture 4" descr="m_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491572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44651" y="1875120"/>
            <a:ext cx="1519072" cy="253095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563723" y="1783080"/>
            <a:ext cx="2876957" cy="21858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591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50876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892807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任意保険・自賠責と同じ番号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5427" y="2073351"/>
            <a:ext cx="1257767" cy="21705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253194" y="2181878"/>
            <a:ext cx="1187486" cy="37844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3682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有効期間の満了する日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67004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期限が切れていない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651" y="2307625"/>
            <a:ext cx="3217553" cy="40627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262205" y="2510762"/>
            <a:ext cx="1178475" cy="82679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31455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06324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使用者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44728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持込の方は、ご本人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1491" y="3551075"/>
            <a:ext cx="1640713" cy="23507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262205" y="3668612"/>
            <a:ext cx="1178475" cy="44618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477256" y="3922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384048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事業用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22452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事業用になっている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55848" y="3744801"/>
            <a:ext cx="906357" cy="2305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262205" y="3860086"/>
            <a:ext cx="1178475" cy="103195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461772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最大積載量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00176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350 になっている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車検証（自動車検査証）</a:t>
            </a:r>
          </a:p>
        </p:txBody>
      </p:sp>
      <p:pic>
        <p:nvPicPr>
          <p:cNvPr id="5" name="Picture 4" descr="m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954403" cy="420624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913747" y="1965342"/>
            <a:ext cx="658290" cy="3388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572038" y="1804171"/>
            <a:ext cx="2468842" cy="33058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077456" y="161214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529851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事業用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913899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事業用になっている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117" y="2409038"/>
            <a:ext cx="1101987" cy="3033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963104" y="2560705"/>
            <a:ext cx="5077776" cy="2070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077456" y="238938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307091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691139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任意保険・自賠責と同じ番号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77518" y="2834987"/>
            <a:ext cx="897886" cy="4275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575405" y="3048771"/>
            <a:ext cx="4465475" cy="3098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077456" y="316662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084331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最大積載量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468379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350 になっている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自賠責保険</a:t>
            </a:r>
          </a:p>
        </p:txBody>
      </p:sp>
      <p:pic>
        <p:nvPicPr>
          <p:cNvPr id="5" name="Picture 4" descr="m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491474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715237" y="2916759"/>
            <a:ext cx="1456550" cy="28423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171788" y="2835908"/>
            <a:ext cx="2268892" cy="22296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4388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61588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45636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車検証と同じ番号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15237" y="3197096"/>
            <a:ext cx="1469293" cy="38617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184530" y="3390182"/>
            <a:ext cx="2256150" cy="22296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4211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338828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保険期間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722876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期限が切れていない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任意保険（ご契約内容 1ページ目）</a:t>
            </a:r>
          </a:p>
        </p:txBody>
      </p:sp>
      <p:pic>
        <p:nvPicPr>
          <p:cNvPr id="5" name="Picture 4" descr="m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79922" cy="44805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775764" y="4017568"/>
            <a:ext cx="2444496" cy="38343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220260" y="4209288"/>
            <a:ext cx="2820620" cy="9677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077456" y="411403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4031742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保険期間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15790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期限が切れていない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8636" y="5063032"/>
            <a:ext cx="1936699" cy="23408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5355336" y="5083302"/>
            <a:ext cx="1685544" cy="9677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077456" y="489127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808982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5193030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車検証・自賠責と同じ番号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任意保険（ご契約内容 2ページ目）</a:t>
            </a:r>
          </a:p>
        </p:txBody>
      </p:sp>
      <p:pic>
        <p:nvPicPr>
          <p:cNvPr id="5" name="Picture 4" descr="m_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233355" cy="438912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735901" y="2310579"/>
            <a:ext cx="2229290" cy="37700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965192" y="2089613"/>
            <a:ext cx="2075688" cy="40946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077456" y="1897589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815293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対人賠償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199341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無制限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35901" y="2648823"/>
            <a:ext cx="2229290" cy="4092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65192" y="2853431"/>
            <a:ext cx="2075688" cy="1342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077456" y="2674829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592533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対物賠償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976581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無制限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35901" y="3035388"/>
            <a:ext cx="2229290" cy="4253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965192" y="3248049"/>
            <a:ext cx="2075688" cy="39604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077456" y="3452069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369773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人身傷害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753821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3,000万円以上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859</Words>
  <Application>Microsoft Office PowerPoint</Application>
  <PresentationFormat>ワイド画面</PresentationFormat>
  <Paragraphs>379</Paragraphs>
  <Slides>34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34</vt:i4>
      </vt:variant>
    </vt:vector>
  </HeadingPairs>
  <TitlesOfParts>
    <vt:vector size="41" baseType="lpstr">
      <vt:lpstr>Meiryo UI</vt:lpstr>
      <vt:lpstr>Noto Sans JP</vt:lpstr>
      <vt:lpstr>Noto Sans JP Bold</vt:lpstr>
      <vt:lpstr>Yu Gothic</vt:lpstr>
      <vt:lpstr>Yu Gothic</vt:lpstr>
      <vt:lpstr>Arial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啓人</dc:creator>
  <cp:lastModifiedBy>雄登 加賀谷</cp:lastModifiedBy>
  <cp:revision>7</cp:revision>
  <dcterms:created xsi:type="dcterms:W3CDTF">2025-01-07T03:42:06Z</dcterms:created>
  <dcterms:modified xsi:type="dcterms:W3CDTF">2026-10-16T01:05:13Z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