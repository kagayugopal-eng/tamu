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39"/>
  </p:notesMasterIdLst>
  <p:sldIdLst>
    <p:sldId id="256" r:id="rId5"/>
    <p:sldId id="257" r:id="rId6"/>
    <p:sldId id="291" r:id="rId44"/>
    <p:sldId id="258" r:id="rId7"/>
    <p:sldId id="259" r:id="rId8"/>
    <p:sldId id="295" r:id="rId48"/>
    <p:sldId id="296" r:id="rId49"/>
    <p:sldId id="297" r:id="rId50"/>
    <p:sldId id="298" r:id="rId51"/>
    <p:sldId id="299" r:id="rId52"/>
    <p:sldId id="300" r:id="rId53"/>
    <p:sldId id="292" r:id="rId45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93" r:id="rId46"/>
    <p:sldId id="276" r:id="rId24"/>
    <p:sldId id="277" r:id="rId25"/>
    <p:sldId id="278" r:id="rId26"/>
    <p:sldId id="279" r:id="rId27"/>
    <p:sldId id="280" r:id="rId28"/>
    <p:sldId id="294" r:id="rId47"/>
    <p:sldId id="281" r:id="rId29"/>
    <p:sldId id="282" r:id="rId30"/>
    <p:sldId id="283" r:id="rId31"/>
    <p:sldId id="301" r:id="rId54"/>
    <p:sldId id="302" r:id="rId55"/>
    <p:sldId id="303" r:id="rId56"/>
    <p:sldId id="304" r:id="rId57"/>
    <p:sldId id="305" r:id="rId58"/>
    <p:sldId id="306" r:id="rId59"/>
    <p:sldId id="285" r:id="rId33"/>
    <p:sldId id="286" r:id="rId34"/>
    <p:sldId id="287" r:id="rId35"/>
    <p:sldId id="288" r:id="rId36"/>
    <p:sldId id="289" r:id="rId37"/>
    <p:sldId id="290" r:id="rId3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13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slide" Target="slides/slide22.xml"/><Relationship Id="rId19" Type="http://schemas.openxmlformats.org/officeDocument/2006/relationships/slide" Target="slides/slide23.xml"/><Relationship Id="rId20" Type="http://schemas.openxmlformats.org/officeDocument/2006/relationships/slide" Target="slides/slide24.xml"/><Relationship Id="rId21" Type="http://schemas.openxmlformats.org/officeDocument/2006/relationships/slide" Target="slides/slide25.xml"/><Relationship Id="rId22" Type="http://schemas.openxmlformats.org/officeDocument/2006/relationships/slide" Target="slides/slide26.xml"/><Relationship Id="rId23" Type="http://schemas.openxmlformats.org/officeDocument/2006/relationships/slide" Target="slides/slide27.xml"/><Relationship Id="rId24" Type="http://schemas.openxmlformats.org/officeDocument/2006/relationships/slide" Target="slides/slide29.xml"/><Relationship Id="rId25" Type="http://schemas.openxmlformats.org/officeDocument/2006/relationships/slide" Target="slides/slide30.xml"/><Relationship Id="rId26" Type="http://schemas.openxmlformats.org/officeDocument/2006/relationships/slide" Target="slides/slide31.xml"/><Relationship Id="rId27" Type="http://schemas.openxmlformats.org/officeDocument/2006/relationships/slide" Target="slides/slide32.xml"/><Relationship Id="rId28" Type="http://schemas.openxmlformats.org/officeDocument/2006/relationships/slide" Target="slides/slide33.xml"/><Relationship Id="rId29" Type="http://schemas.openxmlformats.org/officeDocument/2006/relationships/slide" Target="slides/slide35.xml"/><Relationship Id="rId30" Type="http://schemas.openxmlformats.org/officeDocument/2006/relationships/slide" Target="slides/slide36.xml"/><Relationship Id="rId31" Type="http://schemas.openxmlformats.org/officeDocument/2006/relationships/slide" Target="slides/slide37.xml"/><Relationship Id="rId33" Type="http://schemas.openxmlformats.org/officeDocument/2006/relationships/slide" Target="slides/slide44.xml"/><Relationship Id="rId34" Type="http://schemas.openxmlformats.org/officeDocument/2006/relationships/slide" Target="slides/slide45.xml"/><Relationship Id="rId35" Type="http://schemas.openxmlformats.org/officeDocument/2006/relationships/slide" Target="slides/slide46.xml"/><Relationship Id="rId36" Type="http://schemas.openxmlformats.org/officeDocument/2006/relationships/slide" Target="slides/slide47.xml"/><Relationship Id="rId37" Type="http://schemas.openxmlformats.org/officeDocument/2006/relationships/slide" Target="slides/slide48.xml"/><Relationship Id="rId38" Type="http://schemas.openxmlformats.org/officeDocument/2006/relationships/slide" Target="slides/slide49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openxmlformats.org/officeDocument/2006/relationships/slide" Target="slides/slide3.xml"/><Relationship Id="rId45" Type="http://schemas.openxmlformats.org/officeDocument/2006/relationships/slide" Target="slides/slide12.xml"/><Relationship Id="rId46" Type="http://schemas.openxmlformats.org/officeDocument/2006/relationships/slide" Target="slides/slide28.xml"/><Relationship Id="rId47" Type="http://schemas.openxmlformats.org/officeDocument/2006/relationships/slide" Target="slides/slide34.xml"/><Relationship Id="rId48" Type="http://schemas.openxmlformats.org/officeDocument/2006/relationships/slide" Target="slides/slide6.xml"/><Relationship Id="rId49" Type="http://schemas.openxmlformats.org/officeDocument/2006/relationships/slide" Target="slides/slide7.xml"/><Relationship Id="rId50" Type="http://schemas.openxmlformats.org/officeDocument/2006/relationships/slide" Target="slides/slide8.xml"/><Relationship Id="rId51" Type="http://schemas.openxmlformats.org/officeDocument/2006/relationships/slide" Target="slides/slide9.xml"/><Relationship Id="rId52" Type="http://schemas.openxmlformats.org/officeDocument/2006/relationships/slide" Target="slides/slide10.xml"/><Relationship Id="rId53" Type="http://schemas.openxmlformats.org/officeDocument/2006/relationships/slide" Target="slides/slide11.xml"/><Relationship Id="rId54" Type="http://schemas.openxmlformats.org/officeDocument/2006/relationships/slide" Target="slides/slide38.xml"/><Relationship Id="rId55" Type="http://schemas.openxmlformats.org/officeDocument/2006/relationships/slide" Target="slides/slide39.xml"/><Relationship Id="rId56" Type="http://schemas.openxmlformats.org/officeDocument/2006/relationships/slide" Target="slides/slide40.xml"/><Relationship Id="rId57" Type="http://schemas.openxmlformats.org/officeDocument/2006/relationships/slide" Target="slides/slide41.xml"/><Relationship Id="rId58" Type="http://schemas.openxmlformats.org/officeDocument/2006/relationships/slide" Target="slides/slide42.xml"/><Relationship Id="rId59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③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④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Disprz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視聴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4FB6BE"/>
                </a:solidFill>
                <a:latin typeface="Yu Gothic"/>
              </a:rPr>
              <a:t>① 書類をそろえる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書類をそろえる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4FB6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新必要書類チェック表  →  ファイル名のルール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形式・画質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</a:t>
            </a:r>
          </a:p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マイナンバーカードやパスポートでも可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車両書類の確認ポイント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25880"/>
            <a:ext cx="3639312" cy="3931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3639312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554480"/>
            <a:ext cx="3639312" cy="27432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3639312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車検証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使用者がご本人（持込の方）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748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事業用になっている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最大積載量が 350 になっている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有効期限が切れていない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33672" y="1325880"/>
            <a:ext cx="3639312" cy="39319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905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33672" y="1325880"/>
            <a:ext cx="3639312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554480"/>
            <a:ext cx="3639312" cy="27432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33672" y="1325880"/>
            <a:ext cx="3639312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自賠責保険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196596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有効期限が切れていない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0832" y="269748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車台番号が車検証と一致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3" y="1325880"/>
            <a:ext cx="3639312" cy="393192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905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55863" y="1325880"/>
            <a:ext cx="3639312" cy="50292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5863" y="1554480"/>
            <a:ext cx="3639312" cy="27432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55863" y="1325880"/>
            <a:ext cx="3639312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任意保険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196596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有効期限が切れていない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3" y="269748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車台番号が車検証と一致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対人・対物が無制限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3023" y="416052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人身傷害が 3,000万円以上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54406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440680"/>
            <a:ext cx="109728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車台番号は、車検証・自賠責保険・任意保険の3つがすべて同じ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車検証（自動車検査証記録事項）</a:t>
            </a:r>
          </a:p>
        </p:txBody>
      </p:sp>
      <p:pic>
        <p:nvPicPr>
          <p:cNvPr id="5" name="Picture 4" descr="m_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491572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44651" y="1875120"/>
            <a:ext cx="1519072" cy="253095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563723" y="1783080"/>
            <a:ext cx="2876957" cy="21858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591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508760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車台番号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892807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任意保険・自賠責と同じ番号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5427" y="2073351"/>
            <a:ext cx="1257767" cy="21705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253194" y="2181878"/>
            <a:ext cx="1187486" cy="37844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23682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有効期間の満了する日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670048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期限が切れていない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4651" y="2307625"/>
            <a:ext cx="3217553" cy="40627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262205" y="2510762"/>
            <a:ext cx="1178475" cy="82679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77256" y="31455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063240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使用者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447288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持込の方は、ご本人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1491" y="3551075"/>
            <a:ext cx="1640713" cy="23507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262205" y="3668612"/>
            <a:ext cx="1178475" cy="44618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477256" y="39227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3840480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事業用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224528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事業用になっている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55848" y="3744801"/>
            <a:ext cx="906357" cy="23056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262205" y="3860086"/>
            <a:ext cx="1178475" cy="103195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477256" y="470001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4617720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最大積載量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5001768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350 になっている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5989320"/>
            <a:ext cx="5303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Yu Gothic"/>
              </a:rPr>
              <a:t>※ 住所・氏名などの個人情報は、見本では塗りつぶしています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車検証（自動車検査証）</a:t>
            </a:r>
          </a:p>
        </p:txBody>
      </p:sp>
      <p:pic>
        <p:nvPicPr>
          <p:cNvPr id="5" name="Picture 4" descr="m_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5954403" cy="420624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3913747" y="1965342"/>
            <a:ext cx="658290" cy="3388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572038" y="1804171"/>
            <a:ext cx="2468842" cy="330586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7077456" y="161214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529851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事業用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1913899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事業用になっている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117" y="2409038"/>
            <a:ext cx="1101987" cy="3033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963104" y="2560705"/>
            <a:ext cx="5077776" cy="20706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077456" y="238938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2307091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車台番号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2691139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任意保険・自賠責と同じ番号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77518" y="2834987"/>
            <a:ext cx="897886" cy="42756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575405" y="3048771"/>
            <a:ext cx="4465475" cy="30988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7077456" y="316662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3084331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最大積載量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3468379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350 になっている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5989320"/>
            <a:ext cx="5303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Yu Gothic"/>
              </a:rPr>
              <a:t>※ 住所・氏名などの個人情報は、見本では塗りつぶしています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自賠責保険</a:t>
            </a:r>
          </a:p>
        </p:txBody>
      </p:sp>
      <p:pic>
        <p:nvPicPr>
          <p:cNvPr id="5" name="Picture 4" descr="m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491474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715237" y="2916759"/>
            <a:ext cx="1456550" cy="284230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171788" y="2835908"/>
            <a:ext cx="2268892" cy="222966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64388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61588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車台番号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45636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車検証と同じ番号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15237" y="3197096"/>
            <a:ext cx="1469293" cy="38617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184530" y="3390182"/>
            <a:ext cx="2256150" cy="222966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4211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338828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保険期間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722876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期限が切れていない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5989320"/>
            <a:ext cx="5303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Yu Gothic"/>
              </a:rPr>
              <a:t>※ 住所・氏名などの個人情報は、見本では塗りつぶしています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任意保険（ご契約内容 1ページ目）</a:t>
            </a:r>
          </a:p>
        </p:txBody>
      </p:sp>
      <p:pic>
        <p:nvPicPr>
          <p:cNvPr id="5" name="Picture 4" descr="m_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79922" cy="44805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775764" y="4017568"/>
            <a:ext cx="2444496" cy="38343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220260" y="4209288"/>
            <a:ext cx="2820620" cy="9677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7077456" y="411403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4031742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保険期間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15790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期限が切れていない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8636" y="5063032"/>
            <a:ext cx="1936699" cy="23408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5355336" y="5083302"/>
            <a:ext cx="1685544" cy="9677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077456" y="489127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808982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車台番号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5193030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車検証・自賠責と同じ番号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5989320"/>
            <a:ext cx="5303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Yu Gothic"/>
              </a:rPr>
              <a:t>※ 住所・氏名などの個人情報は、見本では塗りつぶしています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任意保険（ご契約内容 2ページ目）</a:t>
            </a:r>
          </a:p>
        </p:txBody>
      </p:sp>
      <p:pic>
        <p:nvPicPr>
          <p:cNvPr id="5" name="Picture 4" descr="m_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233355" cy="438912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735901" y="2310579"/>
            <a:ext cx="2229290" cy="37700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965192" y="2089613"/>
            <a:ext cx="2075688" cy="40946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7077456" y="1897589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815293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対人賠償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199341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無制限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35901" y="2648823"/>
            <a:ext cx="2229290" cy="4092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965192" y="2853431"/>
            <a:ext cx="2075688" cy="1342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077456" y="2674829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2592533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対物賠償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2976581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無制限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35901" y="3035388"/>
            <a:ext cx="2229290" cy="4253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965192" y="3248049"/>
            <a:ext cx="2075688" cy="39604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7077456" y="3452069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3369773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人身傷害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3753821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3,000万円以上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E12A82"/>
                </a:solidFill>
                <a:latin typeface="Yu Gothic"/>
              </a:rPr>
              <a:t>② クラウドサイン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クラウドサインで</a:t>
            </a:r>
          </a:p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契約書を送る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E12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テンプレート選択  →  送付先の設定  →  入力項目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送信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クラウドサインを送る流れ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3716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45920" y="13716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書類の準備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3716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テンプレートを選ぶ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配送金額の別紙を添付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993392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2860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45920" y="22860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送付先の設定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860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面接時formsから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DAさんの名前とメールアドレスを入力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907792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32004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入力項目の設定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004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金額の入力はなし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入力する場所は3か所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822191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45920" y="41148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送信内容の確認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確認後 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45920" y="50292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645920" y="50292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送信完了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① 「新しい書類の送信」をクリック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05" y="1325880"/>
            <a:ext cx="10418109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② 「テンプレートから書類を準備」を選ぶ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" y="1325880"/>
            <a:ext cx="1061000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③ 使用するテンプレートを選ぶ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385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配送のタイプで、使う契約書が変わる</a:t>
            </a:r>
          </a:p>
        </p:txBody>
      </p:sp>
      <p:pic>
        <p:nvPicPr>
          <p:cNvPr id="6" name="Picture 5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0"/>
            <a:ext cx="11338560" cy="89035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38460" y="1755648"/>
            <a:ext cx="11292840" cy="435582"/>
          </a:xfrm>
          <a:prstGeom prst="rect">
            <a:avLst/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8460" y="2241297"/>
            <a:ext cx="11292840" cy="368131"/>
          </a:xfrm>
          <a:prstGeom prst="rect">
            <a:avLst/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11480" y="3063240"/>
            <a:ext cx="5577840" cy="21488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11480" y="306324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3291840"/>
            <a:ext cx="5577840" cy="22860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3063240"/>
            <a:ext cx="5577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軽バンで配送する人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11880"/>
            <a:ext cx="5212080" cy="1554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(直接契約用)</a:t>
            </a:r>
          </a:p>
          <a:p>
            <a:pPr algn="l"/>
            <a:endParaRPr sz="1600" b="1">
              <a:solidFill>
                <a:srgbClr val="333333"/>
              </a:solidFill>
              <a:latin typeface="Yu Gothic"/>
            </a:endParaRP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上の行（赤枠）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063240"/>
            <a:ext cx="5577840" cy="214884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72200" y="306324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72200" y="3291840"/>
            <a:ext cx="5577840" cy="228600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0" y="3063240"/>
            <a:ext cx="5577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バイカー・ウォーカーなど（軽バンを使わない配送）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11880"/>
            <a:ext cx="5212080" cy="1554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(直契約自転車・台車・原付配達員用)</a:t>
            </a:r>
          </a:p>
          <a:p>
            <a:pPr algn="l"/>
            <a:endParaRPr sz="1600" b="1">
              <a:solidFill>
                <a:srgbClr val="333333"/>
              </a:solidFill>
              <a:latin typeface="Yu Gothic"/>
            </a:endParaRP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下の行（橙枠）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539496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10972800" cy="77724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登録のあとで、バイカー・ウォーカーから軽バンに変えたいとき</a:t>
            </a:r>
          </a:p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アカウントを消して、作り直しになります（最初のタイプ選びに注意）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④ 契約書が表示されたら「使用する」をクリック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20" y="1325880"/>
            <a:ext cx="984287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⑤ 別紙（配送金額）を添付して「次へ」</a:t>
            </a:r>
          </a:p>
        </p:txBody>
      </p:sp>
      <p:pic>
        <p:nvPicPr>
          <p:cNvPr id="5" name="Picture 4" descr="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648754" cy="38404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710540" y="2283642"/>
            <a:ext cx="862181" cy="1119823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463652" y="203675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1743" y="4864090"/>
            <a:ext cx="789719" cy="254306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024855" y="461720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88834" y="1463040"/>
            <a:ext cx="3461205" cy="17373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416850" y="16367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914" y="1554480"/>
            <a:ext cx="2729685" cy="1554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配送金額が載っている別紙（PDF）を、右のアップロードに添付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8834" y="3474720"/>
            <a:ext cx="3461205" cy="822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905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416850" y="36941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8914" y="3474720"/>
            <a:ext cx="2729685" cy="8229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「次へ」をクリック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⑥ 送付先を設定する ─ 「編集する」をクリック</a:t>
            </a:r>
          </a:p>
        </p:txBody>
      </p:sp>
      <p:pic>
        <p:nvPicPr>
          <p:cNvPr id="5" name="Picture 4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9" y="1325880"/>
            <a:ext cx="10595260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⑦ メールアドレスと名前を入力して「保存」</a:t>
            </a:r>
          </a:p>
        </p:txBody>
      </p:sp>
      <p:pic>
        <p:nvPicPr>
          <p:cNvPr id="5" name="Picture 4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6" y="1325880"/>
            <a:ext cx="7179227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29600" y="1325880"/>
            <a:ext cx="3520440" cy="4892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3246120" cy="8229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名前は免許証に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載っている漢字で入力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286000"/>
            <a:ext cx="32461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200" b="1">
                <a:solidFill>
                  <a:srgbClr val="D32F2F"/>
                </a:solidFill>
                <a:latin typeface="Yu Gothic"/>
              </a:rPr>
              <a:t>間違えやすい例（×）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651760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66760" y="2651760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斎藤 ／ 斉藤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218688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3218688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218688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渡辺 ／ 渡部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85615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3785615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785615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高橋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4352544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66760" y="4352544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352544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山崎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83480"/>
            <a:ext cx="324612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免許証と見比べて入力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⑧ 送付先を確認して「次へ」</a:t>
            </a:r>
          </a:p>
        </p:txBody>
      </p:sp>
      <p:pic>
        <p:nvPicPr>
          <p:cNvPr id="5" name="Picture 4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8" y="1325880"/>
            <a:ext cx="11335683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 入力項目を設定する</a:t>
            </a:r>
          </a:p>
        </p:txBody>
      </p:sp>
      <p:pic>
        <p:nvPicPr>
          <p:cNvPr id="5" name="Picture 4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898" y="1325880"/>
            <a:ext cx="877572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この画面で、入力項目を確認する（次の3か所に入力する）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 入力する場所は3か所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01168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280160"/>
            <a:ext cx="16459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97480" y="1280160"/>
            <a:ext cx="16459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拠点入力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280160"/>
            <a:ext cx="71323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金額（エリア・単価）の入力はありません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54864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03120"/>
            <a:ext cx="292608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1ページ目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30886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0" y="2308860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004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200400"/>
            <a:ext cx="54864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200400"/>
            <a:ext cx="292608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11ページ目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40614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97680" y="3406140"/>
            <a:ext cx="128016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15000" y="3406140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0" y="3406140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406140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01000" y="3406140"/>
            <a:ext cx="155448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97679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4297679"/>
            <a:ext cx="54864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297679"/>
            <a:ext cx="292608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宣誓書（14ページ目）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97680" y="4503419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40680" y="4503419"/>
            <a:ext cx="21031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680960" y="4503419"/>
            <a:ext cx="21031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氏名（記名）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124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921240" y="4503419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48640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氏名は、すべて免許証に載っている漢字で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⑩-1：1ページ目</a:t>
            </a:r>
          </a:p>
        </p:txBody>
      </p:sp>
      <p:pic>
        <p:nvPicPr>
          <p:cNvPr id="5" name="Picture 4" descr="p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510255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554339" y="2257917"/>
            <a:ext cx="1265902" cy="2713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820241" y="2393582"/>
            <a:ext cx="1620439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0155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19262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03310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⑩-2：11ページ目</a:t>
            </a:r>
          </a:p>
        </p:txBody>
      </p:sp>
      <p:pic>
        <p:nvPicPr>
          <p:cNvPr id="5" name="Picture 4" descr="p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689203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3139389" y="1888218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4493003" y="1376944"/>
            <a:ext cx="947677" cy="65477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184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0262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48667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8477" y="314304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3282091" y="2245624"/>
            <a:ext cx="2158589" cy="104092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205360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97130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34751" y="347557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3288365" y="3114304"/>
            <a:ext cx="2152315" cy="50477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292228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83998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22403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47300" y="3839480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3300914" y="3982984"/>
            <a:ext cx="213976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3790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70866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⑩-3：宣誓書（14ページ目）</a:t>
            </a:r>
          </a:p>
        </p:txBody>
      </p:sp>
      <p:pic>
        <p:nvPicPr>
          <p:cNvPr id="5" name="Picture 4" descr="p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726848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219498" y="1932137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2573112" y="2075641"/>
            <a:ext cx="286756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88361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801321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185369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33205" y="5200972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2893094" y="4023359"/>
            <a:ext cx="2547586" cy="131798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83133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749039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3205" y="5433116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2893094" y="4892040"/>
            <a:ext cx="2547586" cy="681442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4700016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617720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氏名（記名）　拠点が入力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001768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ドライバーの署名と同じ漢字で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3205" y="5665259"/>
            <a:ext cx="1359888" cy="27445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 flipV="1">
            <a:off x="2893094" y="5760720"/>
            <a:ext cx="2547586" cy="4176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486400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870448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1325880"/>
            <a:ext cx="603504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Yu Gothic"/>
              </a:rPr>
              <a:t>赤枠：ドライバーが入力　／　緑枠：拠点が入力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⑪ 「送信する」をクリック</a:t>
            </a:r>
          </a:p>
        </p:txBody>
      </p:sp>
      <p:pic>
        <p:nvPicPr>
          <p:cNvPr id="5" name="Picture 4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08" y="1325880"/>
            <a:ext cx="928110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送信は1通240円（税込）。送る前に、送付先（名前・メールアドレス）をもう一度確認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F29A3C"/>
                </a:solidFill>
                <a:latin typeface="Yu Gothic"/>
              </a:rPr>
              <a:t>③ Amazon登録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Amazonの</a:t>
            </a:r>
          </a:p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アカウント登録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  →  アカウント作成  →  アプリ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サインイン  →  開始する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98348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00600" y="4983480"/>
            <a:ext cx="667512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⚠ バイカー・ウォーカー→軽バンに変更：アカウントを消して作り直し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5715000"/>
            <a:ext cx="69494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00600" y="5715000"/>
            <a:ext cx="6675120" cy="594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③-1で決めたパスワード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126EC9"/>
                </a:solidFill>
                <a:latin typeface="Yu Gothic"/>
              </a:rPr>
              <a:t>④ Disprz視聴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Disprzで</a:t>
            </a:r>
          </a:p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ガイダンスを視聴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126E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  →  アプリ取得  →  ログイン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ガイダンスをすべてクリア  →  100%で報告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Disprz視聴の流れ（メール〜ガイダンス）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113385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1">
                <a:solidFill>
                  <a:srgbClr val="666666"/>
                </a:solidFill>
                <a:latin typeface="Yu Gothic"/>
              </a:rPr>
              <a:t>メール → アプリ取得 → QRコード（またはURL） → ID・パスワードでログイン → ガイダンスをクリア</a:t>
            </a:r>
          </a:p>
        </p:txBody>
      </p:sp>
      <p:pic>
        <p:nvPicPr>
          <p:cNvPr id="6" name="Picture 5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7" name="Oval 6"/>
          <p:cNvSpPr/>
          <p:nvPr/>
        </p:nvSpPr>
        <p:spPr>
          <a:xfrm>
            <a:off x="356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メールが届く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0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0" name="Picture 9" descr="d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1" name="Oval 10"/>
          <p:cNvSpPr/>
          <p:nvPr/>
        </p:nvSpPr>
        <p:spPr>
          <a:xfrm>
            <a:off x="2642615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ID・パスワード</a:t>
            </a:r>
          </a:p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を確認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6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4" name="Picture 13" descr="d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5" name="Oval 14"/>
          <p:cNvSpPr/>
          <p:nvPr/>
        </p:nvSpPr>
        <p:spPr>
          <a:xfrm>
            <a:off x="4928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ログイン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2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8" name="Picture 17" descr="d1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9" name="Oval 18"/>
          <p:cNvSpPr/>
          <p:nvPr/>
        </p:nvSpPr>
        <p:spPr>
          <a:xfrm>
            <a:off x="7214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ガイダンスを</a:t>
            </a:r>
          </a:p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タップ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8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22" name="Picture 21" descr="d1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3" name="Oval 22"/>
          <p:cNvSpPr/>
          <p:nvPr/>
        </p:nvSpPr>
        <p:spPr>
          <a:xfrm>
            <a:off x="9500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すべてクリア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Disprzからメールが届く</a:t>
            </a:r>
          </a:p>
        </p:txBody>
      </p:sp>
      <p:pic>
        <p:nvPicPr>
          <p:cNvPr id="5" name="Picture 4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7185" y="2262854"/>
            <a:ext cx="2121448" cy="33591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118634" y="2430814"/>
            <a:ext cx="232204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3879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5649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Disprzからのメール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4054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案内どおりに進める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3931920"/>
            <a:ext cx="6355080" cy="11887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77840" y="3931920"/>
            <a:ext cx="6035040" cy="11887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⚠ メールが届かないときは</a:t>
            </a:r>
          </a:p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登録チームへ報告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アプリを取得する</a:t>
            </a:r>
          </a:p>
        </p:txBody>
      </p:sp>
      <p:pic>
        <p:nvPicPr>
          <p:cNvPr id="5" name="Picture 4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300284" y="4618760"/>
            <a:ext cx="1033047" cy="22845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2333332" y="4106788"/>
            <a:ext cx="3107348" cy="626201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391476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832468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Google Play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216516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Android の人はこちらのリンク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0284" y="4861240"/>
            <a:ext cx="964161" cy="22845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2264446" y="4975468"/>
            <a:ext cx="3176234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78344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701148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Apple App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5085196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iPhone の人はこちらのリンク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463040"/>
            <a:ext cx="6355080" cy="8229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お使いのスマートフォンに応じて、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メールのリンクからアプリをダウンロード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ログインにはQRコードまたはURLが必要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11338560" cy="82296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1097280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QRコードの読み取り または URLの入力をしないと、ログインできません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（Disprzのメールが届いたあとに行う）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40233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QRコード</a:t>
            </a:r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743200"/>
            <a:ext cx="2926080" cy="2926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0" y="2286000"/>
            <a:ext cx="6675120" cy="13716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905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2286000"/>
            <a:ext cx="6309360" cy="1371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QRコードを読み取る人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→ 次のページから、QRコードでログイン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3840480"/>
            <a:ext cx="6675120" cy="192024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3886200"/>
            <a:ext cx="63093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QRコードが読み取れない人には、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事前にメールなどでURLを送っておく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4709160"/>
            <a:ext cx="59436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8100">
            <a:solidFill>
              <a:srgbClr val="5BC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0" y="4709160"/>
            <a:ext cx="5760720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URL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https://rye67.app.goo.gl/LnNLg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QRコードでログイン ─ 「QRコードとともに」</a:t>
            </a:r>
          </a:p>
        </p:txBody>
      </p:sp>
      <p:pic>
        <p:nvPicPr>
          <p:cNvPr id="5" name="Picture 4" descr="ph_q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25880"/>
            <a:ext cx="2301182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cxnSp>
        <p:nvCxnSpPr>
          <p:cNvPr id="6" name="Connector 5"/>
          <p:cNvCxnSpPr/>
          <p:nvPr/>
        </p:nvCxnSpPr>
        <p:spPr>
          <a:xfrm>
            <a:off x="1586397" y="4074255"/>
            <a:ext cx="3671403" cy="194526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421805" y="3909663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5294376" y="407675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3994461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「QRコードとともに」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4378509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3216790" y="5137461"/>
            <a:ext cx="2041010" cy="194526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052198" y="5167395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Oval 12"/>
          <p:cNvSpPr/>
          <p:nvPr/>
        </p:nvSpPr>
        <p:spPr>
          <a:xfrm>
            <a:off x="5294376" y="494543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4863141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「QRコードをスキャン」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5247189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5669280"/>
            <a:ext cx="62179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※ 事前にDisprzアプリをインストールしておく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カメラを許可して、QRコードをスキャン</a:t>
            </a:r>
          </a:p>
        </p:txBody>
      </p:sp>
      <p:pic>
        <p:nvPicPr>
          <p:cNvPr id="5" name="Picture 4" descr="ph_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320"/>
            <a:ext cx="2694431" cy="466344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cxnSp>
        <p:nvCxnSpPr>
          <p:cNvPr id="6" name="Connector 5"/>
          <p:cNvCxnSpPr/>
          <p:nvPr/>
        </p:nvCxnSpPr>
        <p:spPr>
          <a:xfrm>
            <a:off x="2676144" y="2826715"/>
            <a:ext cx="1850136" cy="67452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2511552" y="2662123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4562856" y="3309213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3226917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カメラへのアクセスは「許可」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3610965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3194304" y="4369917"/>
            <a:ext cx="1331976" cy="674523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029711" y="4879848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Oval 12"/>
          <p:cNvSpPr/>
          <p:nvPr/>
        </p:nvSpPr>
        <p:spPr>
          <a:xfrm>
            <a:off x="4562856" y="4177893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4095597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QRコードをスキャン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4479645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カメラが起動したら、QRコードを読み取る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QRコードが読めないときは、URLでログイン</a:t>
            </a:r>
          </a:p>
        </p:txBody>
      </p:sp>
      <p:pic>
        <p:nvPicPr>
          <p:cNvPr id="5" name="Picture 4" descr="ph_u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25880"/>
            <a:ext cx="2366783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cxnSp>
        <p:nvCxnSpPr>
          <p:cNvPr id="6" name="Connector 5"/>
          <p:cNvCxnSpPr/>
          <p:nvPr/>
        </p:nvCxnSpPr>
        <p:spPr>
          <a:xfrm flipV="1">
            <a:off x="2740106" y="1911302"/>
            <a:ext cx="2517694" cy="29632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2575514" y="2043030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5294376" y="171927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36982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「組織のURLとともに」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02103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79328" y="2718105"/>
            <a:ext cx="2378472" cy="6187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2714736" y="2553513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Oval 12"/>
          <p:cNvSpPr/>
          <p:nvPr/>
        </p:nvSpPr>
        <p:spPr>
          <a:xfrm>
            <a:off x="5294376" y="258795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505662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組織のURLを入力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88971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メールなどで送られたURLをコピー貼付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276030" y="3414218"/>
            <a:ext cx="2981770" cy="23444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111438" y="3249626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5294376" y="345663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374342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「URLを検証する」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75839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5486400"/>
            <a:ext cx="62179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URL　https://rye67.app.goo.gl/LnNLg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ログイン画面に learning のマークが出る</a:t>
            </a:r>
          </a:p>
        </p:txBody>
      </p:sp>
      <p:pic>
        <p:nvPicPr>
          <p:cNvPr id="5" name="Picture 4" descr="ph_lea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25880"/>
            <a:ext cx="2327531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cxnSp>
        <p:nvCxnSpPr>
          <p:cNvPr id="6" name="Connector 5"/>
          <p:cNvCxnSpPr/>
          <p:nvPr/>
        </p:nvCxnSpPr>
        <p:spPr>
          <a:xfrm>
            <a:off x="2228064" y="2291758"/>
            <a:ext cx="3029736" cy="82601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2063472" y="2127166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5294376" y="292574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843452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learning のマーク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322750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出たら、組織の設定はOK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86716" y="3986452"/>
            <a:ext cx="3171084" cy="82601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922124" y="4647874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Oval 12"/>
          <p:cNvSpPr/>
          <p:nvPr/>
        </p:nvSpPr>
        <p:spPr>
          <a:xfrm>
            <a:off x="5294376" y="379442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3712132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ユーザーID・パスワード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09618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メールに書いてあるものでログイン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メールのID・パスワードを確認する</a:t>
            </a: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300284" y="4329439"/>
            <a:ext cx="1349923" cy="16508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650208" y="4085357"/>
            <a:ext cx="2790472" cy="326623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3893333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811037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ユーザーID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195085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ログインで使う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0284" y="4453434"/>
            <a:ext cx="1349923" cy="16508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650208" y="4535975"/>
            <a:ext cx="2790472" cy="32662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670573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588277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972325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ログインで使う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アプリでログインする</a:t>
            </a:r>
          </a:p>
        </p:txBody>
      </p:sp>
      <p:pic>
        <p:nvPicPr>
          <p:cNvPr id="5" name="Picture 4" descr="d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85360" y="4701424"/>
            <a:ext cx="1939589" cy="31663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3024949" y="3977946"/>
            <a:ext cx="2415731" cy="88179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378592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70362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ユーザーID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08767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メールに書いてあるID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85360" y="5161583"/>
            <a:ext cx="1939589" cy="31663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3024949" y="4846626"/>
            <a:ext cx="2415731" cy="473273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65460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57230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95635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メールに書いてあるパスワード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2914" y="5550101"/>
            <a:ext cx="1881724" cy="33040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2994639" y="5715306"/>
            <a:ext cx="2446041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77256" y="552328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44098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582503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「オンボーディングガイダンス」をタップ</a:t>
            </a:r>
          </a:p>
        </p:txBody>
      </p:sp>
      <p:pic>
        <p:nvPicPr>
          <p:cNvPr id="5" name="Picture 4" descr="d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55854" y="4571918"/>
            <a:ext cx="1192863" cy="1548315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2148717" y="5346076"/>
            <a:ext cx="3291963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515405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507175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オンボーディングガイダンス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45580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中身をすべてクリアする</a:t>
            </a:r>
          </a:p>
        </p:txBody>
      </p:sp>
      <p:pic>
        <p:nvPicPr>
          <p:cNvPr id="5" name="Picture 4" descr="d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1674" y="3158374"/>
            <a:ext cx="2126959" cy="258987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118634" y="4453311"/>
            <a:ext cx="2322046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4261287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178991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4つの項目をすべてクリア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563039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上から順に進める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すべて「完了」になる（5/5）</a:t>
            </a:r>
          </a:p>
        </p:txBody>
      </p:sp>
      <p:pic>
        <p:nvPicPr>
          <p:cNvPr id="5" name="Picture 4" descr="d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650453" y="2689948"/>
            <a:ext cx="454403" cy="23396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104857" y="2806932"/>
            <a:ext cx="2335823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614908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32612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5/5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16660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すべてクリアすると 5/5 になる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7606" y="3654354"/>
            <a:ext cx="335919" cy="206633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3063525" y="4687524"/>
            <a:ext cx="2377155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495500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1320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4つとも「完了」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79725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4つのガイダンスがすべて完了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ホームで「100%」を確認</a:t>
            </a:r>
          </a:p>
        </p:txBody>
      </p:sp>
      <p:pic>
        <p:nvPicPr>
          <p:cNvPr id="5" name="Picture 4" descr="d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7185" y="2174679"/>
            <a:ext cx="542578" cy="661062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1539763" y="2505211"/>
            <a:ext cx="3900917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313187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230891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完了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614939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すべてクリアすると、100% になる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100%になったら登録チームに報告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51560" y="1691640"/>
            <a:ext cx="640080" cy="640080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463040"/>
            <a:ext cx="9326880" cy="10972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ホームで、完了が 100% になっているか確認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2514600"/>
            <a:ext cx="91440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51560" y="3108960"/>
            <a:ext cx="640080" cy="640080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880360"/>
            <a:ext cx="9326880" cy="10972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100% になったら、登録チームに報告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3931920"/>
            <a:ext cx="91440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51560" y="4526280"/>
            <a:ext cx="640080" cy="640080"/>
          </a:xfrm>
          <a:prstGeom prst="ellipse">
            <a:avLst/>
          </a:prstGeom>
          <a:solidFill>
            <a:srgbClr val="126EC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297680"/>
            <a:ext cx="9326880" cy="10972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登録チームから、完了のお知らせが届く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859</Words>
  <Application>Microsoft Office PowerPoint</Application>
  <PresentationFormat>ワイド画面</PresentationFormat>
  <Paragraphs>379</Paragraphs>
  <Slides>34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34</vt:i4>
      </vt:variant>
    </vt:vector>
  </HeadingPairs>
  <TitlesOfParts>
    <vt:vector size="41" baseType="lpstr">
      <vt:lpstr>Meiryo UI</vt:lpstr>
      <vt:lpstr>Noto Sans JP</vt:lpstr>
      <vt:lpstr>Noto Sans JP Bold</vt:lpstr>
      <vt:lpstr>Yu Gothic</vt:lpstr>
      <vt:lpstr>Yu Gothic</vt:lpstr>
      <vt:lpstr>Arial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啓人</dc:creator>
  <cp:lastModifiedBy>雄登 加賀谷</cp:lastModifiedBy>
  <cp:revision>7</cp:revision>
  <dcterms:created xsi:type="dcterms:W3CDTF">2025-01-07T03:42:06Z</dcterms:created>
  <dcterms:modified xsi:type="dcterms:W3CDTF">2026-10-16T01:05:13Z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