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39"/>
  </p:notesMasterIdLst>
  <p:sldIdLst>
    <p:sldId id="256" r:id="rId5"/>
    <p:sldId id="257" r:id="rId6"/>
    <p:sldId id="291" r:id="rId44"/>
    <p:sldId id="258" r:id="rId7"/>
    <p:sldId id="259" r:id="rId8"/>
    <p:sldId id="295" r:id="rId48"/>
    <p:sldId id="296" r:id="rId49"/>
    <p:sldId id="297" r:id="rId50"/>
    <p:sldId id="298" r:id="rId51"/>
    <p:sldId id="299" r:id="rId52"/>
    <p:sldId id="300" r:id="rId53"/>
    <p:sldId id="292" r:id="rId45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93" r:id="rId46"/>
    <p:sldId id="276" r:id="rId24"/>
    <p:sldId id="277" r:id="rId25"/>
    <p:sldId id="278" r:id="rId26"/>
    <p:sldId id="279" r:id="rId27"/>
    <p:sldId id="280" r:id="rId28"/>
    <p:sldId id="294" r:id="rId47"/>
    <p:sldId id="281" r:id="rId29"/>
    <p:sldId id="282" r:id="rId30"/>
    <p:sldId id="283" r:id="rId31"/>
    <p:sldId id="301" r:id="rId54"/>
    <p:sldId id="302" r:id="rId55"/>
    <p:sldId id="303" r:id="rId56"/>
    <p:sldId id="304" r:id="rId57"/>
    <p:sldId id="305" r:id="rId58"/>
    <p:sldId id="306" r:id="rId59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13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slide" Target="slides/slide20.xml"/><Relationship Id="rId17" Type="http://schemas.openxmlformats.org/officeDocument/2006/relationships/slide" Target="slides/slide21.xml"/><Relationship Id="rId18" Type="http://schemas.openxmlformats.org/officeDocument/2006/relationships/slide" Target="slides/slide22.xml"/><Relationship Id="rId19" Type="http://schemas.openxmlformats.org/officeDocument/2006/relationships/slide" Target="slides/slide23.xml"/><Relationship Id="rId20" Type="http://schemas.openxmlformats.org/officeDocument/2006/relationships/slide" Target="slides/slide24.xml"/><Relationship Id="rId21" Type="http://schemas.openxmlformats.org/officeDocument/2006/relationships/slide" Target="slides/slide25.xml"/><Relationship Id="rId22" Type="http://schemas.openxmlformats.org/officeDocument/2006/relationships/slide" Target="slides/slide26.xml"/><Relationship Id="rId23" Type="http://schemas.openxmlformats.org/officeDocument/2006/relationships/slide" Target="slides/slide27.xml"/><Relationship Id="rId24" Type="http://schemas.openxmlformats.org/officeDocument/2006/relationships/slide" Target="slides/slide29.xml"/><Relationship Id="rId25" Type="http://schemas.openxmlformats.org/officeDocument/2006/relationships/slide" Target="slides/slide30.xml"/><Relationship Id="rId26" Type="http://schemas.openxmlformats.org/officeDocument/2006/relationships/slide" Target="slides/slide31.xml"/><Relationship Id="rId27" Type="http://schemas.openxmlformats.org/officeDocument/2006/relationships/slide" Target="slides/slide32.xml"/><Relationship Id="rId28" Type="http://schemas.openxmlformats.org/officeDocument/2006/relationships/slide" Target="slides/slide33.xml"/><Relationship Id="rId29" Type="http://schemas.openxmlformats.org/officeDocument/2006/relationships/slide" Target="slides/slide35.xml"/><Relationship Id="rId30" Type="http://schemas.openxmlformats.org/officeDocument/2006/relationships/slide" Target="slides/slide36.xml"/><Relationship Id="rId31" Type="http://schemas.openxmlformats.org/officeDocument/2006/relationships/slide" Target="slides/slide37.xml"/><Relationship Id="rId33" Type="http://schemas.openxmlformats.org/officeDocument/2006/relationships/slide" Target="slides/slide44.xml"/><Relationship Id="rId34" Type="http://schemas.openxmlformats.org/officeDocument/2006/relationships/slide" Target="slides/slide45.xml"/><Relationship Id="rId35" Type="http://schemas.openxmlformats.org/officeDocument/2006/relationships/slide" Target="slides/slide46.xml"/><Relationship Id="rId36" Type="http://schemas.openxmlformats.org/officeDocument/2006/relationships/slide" Target="slides/slide47.xml"/><Relationship Id="rId37" Type="http://schemas.openxmlformats.org/officeDocument/2006/relationships/slide" Target="slides/slide48.xml"/><Relationship Id="rId38" Type="http://schemas.openxmlformats.org/officeDocument/2006/relationships/slide" Target="slides/slide49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Relationship Id="rId44" Type="http://schemas.openxmlformats.org/officeDocument/2006/relationships/slide" Target="slides/slide3.xml"/><Relationship Id="rId45" Type="http://schemas.openxmlformats.org/officeDocument/2006/relationships/slide" Target="slides/slide12.xml"/><Relationship Id="rId46" Type="http://schemas.openxmlformats.org/officeDocument/2006/relationships/slide" Target="slides/slide28.xml"/><Relationship Id="rId47" Type="http://schemas.openxmlformats.org/officeDocument/2006/relationships/slide" Target="slides/slide34.xml"/><Relationship Id="rId48" Type="http://schemas.openxmlformats.org/officeDocument/2006/relationships/slide" Target="slides/slide6.xml"/><Relationship Id="rId49" Type="http://schemas.openxmlformats.org/officeDocument/2006/relationships/slide" Target="slides/slide7.xml"/><Relationship Id="rId50" Type="http://schemas.openxmlformats.org/officeDocument/2006/relationships/slide" Target="slides/slide8.xml"/><Relationship Id="rId51" Type="http://schemas.openxmlformats.org/officeDocument/2006/relationships/slide" Target="slides/slide9.xml"/><Relationship Id="rId52" Type="http://schemas.openxmlformats.org/officeDocument/2006/relationships/slide" Target="slides/slide10.xml"/><Relationship Id="rId53" Type="http://schemas.openxmlformats.org/officeDocument/2006/relationships/slide" Target="slides/slide11.xml"/><Relationship Id="rId54" Type="http://schemas.openxmlformats.org/officeDocument/2006/relationships/slide" Target="slides/slide38.xml"/><Relationship Id="rId55" Type="http://schemas.openxmlformats.org/officeDocument/2006/relationships/slide" Target="slides/slide39.xml"/><Relationship Id="rId56" Type="http://schemas.openxmlformats.org/officeDocument/2006/relationships/slide" Target="slides/slide40.xml"/><Relationship Id="rId57" Type="http://schemas.openxmlformats.org/officeDocument/2006/relationships/slide" Target="slides/slide41.xml"/><Relationship Id="rId58" Type="http://schemas.openxmlformats.org/officeDocument/2006/relationships/slide" Target="slides/slide42.xml"/><Relationship Id="rId59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2026/10/16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Relationship Id="rId6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Relationship Id="rId5" Type="http://schemas.openxmlformats.org/officeDocument/2006/relationships/image" Target="../media/image2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Relationship Id="rId6" Type="http://schemas.openxmlformats.org/officeDocument/2006/relationships/image" Target="../media/image28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6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8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0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4FB6BE"/>
                </a:solidFill>
                <a:latin typeface="Yu Gothic"/>
              </a:rPr>
              <a:t>① 書類をそろえる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書類をそろえる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4FB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新必要書類チェック表  →  ファイル名のルール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形式・画質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</a:t>
            </a:r>
          </a:p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マイナンバーカードやパスポートでも可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車両書類の確認ポイント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554480"/>
            <a:ext cx="3639312" cy="27432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車検証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使用者がご本人（持込の方）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事業用になっている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最大積載量が 350 になっている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33672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554480"/>
            <a:ext cx="3639312" cy="27432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33672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自賠責保険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0832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70832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3" y="1325880"/>
            <a:ext cx="3639312" cy="393192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905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55863" y="1325880"/>
            <a:ext cx="3639312" cy="50292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55863" y="1554480"/>
            <a:ext cx="3639312" cy="27432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55863" y="1325880"/>
            <a:ext cx="3639312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任意保険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196596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有効期限が切れていない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3" y="269748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車台番号が車検証と一致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93023" y="342900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対人・対物が無制限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93023" y="41605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✓ 人身傷害が 3,000万円以上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54406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440680"/>
            <a:ext cx="109728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車台番号は、車検証・自賠責保険・任意保険の3つがすべて同じ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車検証（自動車検査証記録事項）</a:t>
            </a:r>
          </a:p>
        </p:txBody>
      </p:sp>
      <p:pic>
        <p:nvPicPr>
          <p:cNvPr id="5" name="Picture 4" descr="m_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572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44651" y="1875120"/>
            <a:ext cx="1519072" cy="25309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563723" y="1783080"/>
            <a:ext cx="2876957" cy="2185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591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50876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892807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5427" y="2073351"/>
            <a:ext cx="1257767" cy="21705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253194" y="2181878"/>
            <a:ext cx="1187486" cy="37844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3682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有効期間の満了する日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67004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4651" y="2307625"/>
            <a:ext cx="3217553" cy="40627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262205" y="2510762"/>
            <a:ext cx="1178475" cy="82679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31455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06324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使用者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344728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持込の方は、ご本人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1491" y="3551075"/>
            <a:ext cx="1640713" cy="2350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62205" y="3668612"/>
            <a:ext cx="1178475" cy="44618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477256" y="3922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384048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422452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55848" y="3744801"/>
            <a:ext cx="906357" cy="230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262205" y="3860086"/>
            <a:ext cx="1178475" cy="103195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4617720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5001768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車検証（自動車検査証）</a:t>
            </a:r>
          </a:p>
        </p:txBody>
      </p:sp>
      <p:pic>
        <p:nvPicPr>
          <p:cNvPr id="5" name="Picture 4" descr="m_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954403" cy="420624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913747" y="1965342"/>
            <a:ext cx="658290" cy="3388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572038" y="1804171"/>
            <a:ext cx="2468842" cy="33058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61214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52985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事業用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191389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事業用になっている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1117" y="2409038"/>
            <a:ext cx="1101987" cy="3033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963104" y="2560705"/>
            <a:ext cx="5077776" cy="2070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38938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30709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69113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任意保険・自賠責と同じ番号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77518" y="2834987"/>
            <a:ext cx="897886" cy="4275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575405" y="3048771"/>
            <a:ext cx="4465475" cy="3098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16662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084331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最大積載量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468379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350 になっている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自賠責保険</a:t>
            </a:r>
          </a:p>
        </p:txBody>
      </p:sp>
      <p:pic>
        <p:nvPicPr>
          <p:cNvPr id="5" name="Picture 4" descr="m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491474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15237" y="2916759"/>
            <a:ext cx="1456550" cy="284230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171788" y="2835908"/>
            <a:ext cx="2268892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4388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6158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4563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車検証と同じ番号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715237" y="3197096"/>
            <a:ext cx="1469293" cy="38617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184530" y="3390182"/>
            <a:ext cx="2256150" cy="22296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4211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338828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722876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1ページ目）</a:t>
            </a:r>
          </a:p>
        </p:txBody>
      </p:sp>
      <p:pic>
        <p:nvPicPr>
          <p:cNvPr id="5" name="Picture 4" descr="m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79922" cy="44805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775764" y="4017568"/>
            <a:ext cx="2444496" cy="38343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4220260" y="4209288"/>
            <a:ext cx="2820620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411403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03174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保険期間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1579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期限が切れていない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8636" y="5063032"/>
            <a:ext cx="1936699" cy="23408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5355336" y="5083302"/>
            <a:ext cx="1685544" cy="9677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489127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808982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車台番号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5193030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車検証・自賠責と同じ番号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989320"/>
            <a:ext cx="5303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Yu Gothic"/>
              </a:rPr>
              <a:t>※ 住所・氏名などの個人情報は、見本では塗りつぶしています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任意保険（ご契約内容 2ページ目）</a:t>
            </a:r>
          </a:p>
        </p:txBody>
      </p:sp>
      <p:pic>
        <p:nvPicPr>
          <p:cNvPr id="5" name="Picture 4" descr="m_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233355" cy="438912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735901" y="2310579"/>
            <a:ext cx="2229290" cy="37700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965192" y="2089613"/>
            <a:ext cx="2075688" cy="40946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7077456" y="189758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81529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対人賠償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19934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35901" y="2648823"/>
            <a:ext cx="2229290" cy="4092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65192" y="2853431"/>
            <a:ext cx="2075688" cy="134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077456" y="267482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259253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対物賠償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297658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無制限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35901" y="3035388"/>
            <a:ext cx="2229290" cy="4253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4965192" y="3248049"/>
            <a:ext cx="2075688" cy="39604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7077456" y="3452069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3369773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人身傷害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3753821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3,000万円以上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E12A82"/>
                </a:solidFill>
                <a:latin typeface="Yu Gothic"/>
              </a:rPr>
              <a:t>② クラウドサイン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クラウドサインで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契約書を送る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E12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テンプレート選択  →  送付先の設定  →  入力項目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送信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配送金額の別紙を添付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1148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1148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11480" y="329184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063240"/>
            <a:ext cx="5577840" cy="21488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172200" y="306324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329184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72200" y="3063240"/>
            <a:ext cx="5577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11880"/>
            <a:ext cx="5212080" cy="1554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endParaRPr sz="1600" b="1">
              <a:solidFill>
                <a:srgbClr val="333333"/>
              </a:solidFill>
              <a:latin typeface="Yu Gothic"/>
            </a:endParaRP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" y="5394960"/>
            <a:ext cx="11338560" cy="7772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10972800" cy="7772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登録のあとで、バイカー・ウォーカーから軽バンに変えたいとき</a:t>
            </a:r>
          </a:p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アカウントを消して、作り直しになります（最初のタイプ選びに注意）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別紙（配送金額）を添付して「次へ」</a:t>
            </a:r>
          </a:p>
        </p:txBody>
      </p:sp>
      <p:pic>
        <p:nvPicPr>
          <p:cNvPr id="5" name="Picture 4" descr="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648754" cy="38404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710540" y="2283642"/>
            <a:ext cx="862181" cy="1119823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463652" y="203675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1743" y="4864090"/>
            <a:ext cx="789719" cy="254306"/>
          </a:xfrm>
          <a:prstGeom prst="roundRect">
            <a:avLst>
              <a:gd name="adj" fmla="val 10000"/>
            </a:avLst>
          </a:prstGeom>
          <a:noFill/>
          <a:ln w="444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024855" y="46172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88834" y="1463040"/>
            <a:ext cx="3461205" cy="17373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416850" y="16367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8914" y="1554480"/>
            <a:ext cx="2729685" cy="1554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配送金額が載っている別紙（PDF）を、右のアップロードに添付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88834" y="3474720"/>
            <a:ext cx="3461205" cy="822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416850" y="369417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8914" y="3474720"/>
            <a:ext cx="2729685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「次へ」をクリック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必ず記入した日を入力（yyyy/mm/dd）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394960" y="4892040"/>
            <a:ext cx="6355080" cy="914400"/>
          </a:xfrm>
          <a:prstGeom prst="roundRect">
            <a:avLst>
              <a:gd name="adj" fmla="val 10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/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⚠ 契約日に誕生日などを入れない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必ず「記入した日」を入力する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必ず記入した日を入力（yyyy/mm/dd）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F29A3C"/>
                </a:solidFill>
                <a:latin typeface="Yu Gothic"/>
              </a:rPr>
              <a:t>③ Amazon登録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Amazonの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アカウント登録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  →  アカウント作成  →  アプリ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サインイン  →  開始する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98348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00600" y="4983480"/>
            <a:ext cx="6675120" cy="6400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⚠ バイカー・ウォーカー→軽バンに変更：アカウントを消して作り直し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63440" y="5715000"/>
            <a:ext cx="69494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5715000"/>
            <a:ext cx="6675120" cy="59436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1005840"/>
            <a:ext cx="3383280" cy="5212080"/>
          </a:xfrm>
          <a:prstGeom prst="roundRect">
            <a:avLst>
              <a:gd name="adj" fmla="val 6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737360"/>
            <a:ext cx="3383280" cy="2011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931920"/>
            <a:ext cx="33832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STEP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828800"/>
            <a:ext cx="7434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26EC9"/>
                </a:solidFill>
                <a:latin typeface="Yu Gothic"/>
              </a:rPr>
              <a:t>④ Disprz視聴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2331720"/>
            <a:ext cx="7434072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Disprzで</a:t>
            </a:r>
          </a:p>
          <a:p>
            <a:pPr algn="l"/>
            <a:r>
              <a:rPr sz="3800" b="1">
                <a:solidFill>
                  <a:srgbClr val="333333"/>
                </a:solidFill>
                <a:latin typeface="Yu Gothic"/>
              </a:rPr>
              <a:t>ガイダンスを視聴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9120" y="4297680"/>
            <a:ext cx="1828800" cy="0"/>
          </a:xfrm>
          <a:prstGeom prst="line">
            <a:avLst/>
          </a:prstGeom>
          <a:ln w="31750">
            <a:solidFill>
              <a:srgbClr val="126E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43400" y="4434840"/>
            <a:ext cx="7434072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  →  アプリ取得  →  ログイン</a:t>
            </a:r>
          </a:p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→  ガイダンスをすべてクリア  →  100%で報告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Disprz視聴の流れ（メール〜ガイダンス）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34440"/>
            <a:ext cx="1133856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1">
                <a:solidFill>
                  <a:srgbClr val="666666"/>
                </a:solidFill>
                <a:latin typeface="Yu Gothic"/>
              </a:rPr>
              <a:t>メール → アプリ取得 → QRコード（またはURL） → ID・パスワードでログイン → ガイダンスをクリア</a:t>
            </a:r>
          </a:p>
        </p:txBody>
      </p:sp>
      <p:pic>
        <p:nvPicPr>
          <p:cNvPr id="6" name="Picture 5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7" name="Oval 6"/>
          <p:cNvSpPr/>
          <p:nvPr/>
        </p:nvSpPr>
        <p:spPr>
          <a:xfrm>
            <a:off x="356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メールが届く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0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0" name="Picture 9" descr="d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1" name="Oval 10"/>
          <p:cNvSpPr/>
          <p:nvPr/>
        </p:nvSpPr>
        <p:spPr>
          <a:xfrm>
            <a:off x="2642615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ID・パスワード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を確認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6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4" name="Picture 13" descr="d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5" name="Oval 14"/>
          <p:cNvSpPr/>
          <p:nvPr/>
        </p:nvSpPr>
        <p:spPr>
          <a:xfrm>
            <a:off x="4928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ログイン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2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8" name="Picture 17" descr="d1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9" name="Oval 18"/>
          <p:cNvSpPr/>
          <p:nvPr/>
        </p:nvSpPr>
        <p:spPr>
          <a:xfrm>
            <a:off x="7214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ガイダンスを</a:t>
            </a:r>
          </a:p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8676" y="3200400"/>
            <a:ext cx="457200" cy="4572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22" name="Picture 21" descr="d1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46920" y="1737360"/>
            <a:ext cx="1647756" cy="35661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3" name="Oval 22"/>
          <p:cNvSpPr/>
          <p:nvPr/>
        </p:nvSpPr>
        <p:spPr>
          <a:xfrm>
            <a:off x="9500616" y="1591056"/>
            <a:ext cx="384048" cy="384048"/>
          </a:xfrm>
          <a:prstGeom prst="ellipse">
            <a:avLst/>
          </a:prstGeom>
          <a:solidFill>
            <a:srgbClr val="E12A8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5394960"/>
            <a:ext cx="2379276" cy="68580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  <a:latin typeface="Yu Gothic"/>
              </a:rPr>
              <a:t>すべてクリア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Disprzからメールが届く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262854"/>
            <a:ext cx="2121448" cy="33591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2430814"/>
            <a:ext cx="232204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3879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5649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Disprzからのメール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4054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案内どおりに進める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3931920"/>
            <a:ext cx="6355080" cy="11887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577840" y="3931920"/>
            <a:ext cx="6035040" cy="118872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⚠ メールが届かないときは</a:t>
            </a:r>
          </a:p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登録チームへ報告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アプリを取得する</a:t>
            </a:r>
          </a:p>
        </p:txBody>
      </p:sp>
      <p:pic>
        <p:nvPicPr>
          <p:cNvPr id="5" name="Picture 4" descr="d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618760"/>
            <a:ext cx="1033047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2333332" y="4106788"/>
            <a:ext cx="3107348" cy="626201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91476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3246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Google Play 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21651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Android の人はこちらのリンク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861240"/>
            <a:ext cx="964161" cy="22845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2264446" y="4975468"/>
            <a:ext cx="3176234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78344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701148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Apple App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5085196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iPhone の人はこちらのリンク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463040"/>
            <a:ext cx="6355080" cy="8229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お使いのスマートフォンに応じて、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メールのリンクからアプリをダウンロード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ログインにはQRコードまたはURLが必要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280160"/>
            <a:ext cx="11338560" cy="82296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1097280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QRコードの読み取り または URLの入力をしないと、ログインできません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（Disprzのメールが届いたあとに行う）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86000"/>
            <a:ext cx="40233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QRコード</a:t>
            </a:r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743200"/>
            <a:ext cx="2926080" cy="2926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0" y="2286000"/>
            <a:ext cx="6675120" cy="13716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905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2286000"/>
            <a:ext cx="630936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QRコードを読み取る人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→ 次のページから、QRコードでログイン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3840480"/>
            <a:ext cx="6675120" cy="192024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3886200"/>
            <a:ext cx="630936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QRコードが読み取れない人には、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事前にメールなどでURLを送っておく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4709160"/>
            <a:ext cx="59436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8100">
            <a:solidFill>
              <a:srgbClr val="5BC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4709160"/>
            <a:ext cx="5760720" cy="8686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URL</a:t>
            </a:r>
          </a:p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https://rye67.app.goo.gl/LnNLg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QRコードでログイン ─ 「QRコードとともに」</a:t>
            </a:r>
          </a:p>
        </p:txBody>
      </p:sp>
      <p:pic>
        <p:nvPicPr>
          <p:cNvPr id="5" name="Picture 4" descr="ph_qr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01182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1586397" y="4074255"/>
            <a:ext cx="3671403" cy="19452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421805" y="390966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407675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994461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「QRコードとともに」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37850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216790" y="5137461"/>
            <a:ext cx="2041010" cy="194526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052198" y="5167395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494543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4863141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「QRコードをスキャン」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247189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669280"/>
            <a:ext cx="6217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※ 事前にDisprzアプリをインストールしておく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カメラを許可して、QRコードをスキャン</a:t>
            </a:r>
          </a:p>
        </p:txBody>
      </p:sp>
      <p:pic>
        <p:nvPicPr>
          <p:cNvPr id="5" name="Picture 4" descr="ph_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17320"/>
            <a:ext cx="2694431" cy="466344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2676144" y="2826715"/>
            <a:ext cx="1850136" cy="6745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511552" y="266212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4562856" y="330921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3226917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カメラへのアクセスは「許可」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610965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194304" y="4369917"/>
            <a:ext cx="1331976" cy="67452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3029711" y="4879848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4562856" y="417789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095597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QRコードをスキャン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479645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カメラが起動したら、QRコードを読み取る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QRコードが読めないときは、URLでログイン</a:t>
            </a:r>
          </a:p>
        </p:txBody>
      </p:sp>
      <p:pic>
        <p:nvPicPr>
          <p:cNvPr id="5" name="Picture 4" descr="ph_ur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6678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 flipV="1">
            <a:off x="2740106" y="1911302"/>
            <a:ext cx="2517694" cy="29632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575514" y="2043030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171927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3698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「組織のURLとともに」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202103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79328" y="2718105"/>
            <a:ext cx="2378472" cy="6187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2714736" y="2553513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25879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50566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組織のURLを入力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88971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メールなどで送られたURLをコピー貼付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76030" y="3414218"/>
            <a:ext cx="2981770" cy="23444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111438" y="3249626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5294376" y="345663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37434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「URLを検証する」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75839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5486400"/>
            <a:ext cx="6217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URL　https://rye67.app.goo.gl/LnNLg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ログイン画面に learning のマークが出る</a:t>
            </a:r>
          </a:p>
        </p:txBody>
      </p:sp>
      <p:pic>
        <p:nvPicPr>
          <p:cNvPr id="5" name="Picture 4" descr="ph_le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2327531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cxnSp>
        <p:nvCxnSpPr>
          <p:cNvPr id="6" name="Connector 5"/>
          <p:cNvCxnSpPr/>
          <p:nvPr/>
        </p:nvCxnSpPr>
        <p:spPr>
          <a:xfrm>
            <a:off x="2228064" y="2291758"/>
            <a:ext cx="3029736" cy="82601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2063472" y="2127166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Oval 7"/>
          <p:cNvSpPr/>
          <p:nvPr/>
        </p:nvSpPr>
        <p:spPr>
          <a:xfrm>
            <a:off x="5294376" y="292574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84345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learning のマーク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322750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出たら、組織の設定はOK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86716" y="3986452"/>
            <a:ext cx="3171084" cy="82601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922124" y="4647874"/>
            <a:ext cx="329184" cy="329184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5294376" y="379442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3712132"/>
            <a:ext cx="51206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ユーザーID・パスワード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096180"/>
            <a:ext cx="51206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メールに書いてあるものでログイン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メールのID・パスワードを確認する</a:t>
            </a:r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300284" y="4329439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2650208" y="4085357"/>
            <a:ext cx="2790472" cy="32662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89333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811037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195085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00284" y="4453434"/>
            <a:ext cx="1349923" cy="16508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650208" y="4535975"/>
            <a:ext cx="2790472" cy="32662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70573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88277"/>
            <a:ext cx="47548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72325"/>
            <a:ext cx="47548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ログインで使う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アプリでログインする</a:t>
            </a:r>
          </a:p>
        </p:txBody>
      </p:sp>
      <p:pic>
        <p:nvPicPr>
          <p:cNvPr id="5" name="Picture 4" descr="d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85360" y="4701424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3024949" y="3977946"/>
            <a:ext cx="2415731" cy="881794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378592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70362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ユーザーID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08767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85360" y="5161583"/>
            <a:ext cx="1939589" cy="31663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V="1">
            <a:off x="3024949" y="4846626"/>
            <a:ext cx="2415731" cy="473273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65460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57230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95635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メールに書いてあるパスワード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2914" y="5550101"/>
            <a:ext cx="1881724" cy="33040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" name="Connector 16"/>
          <p:cNvCxnSpPr/>
          <p:nvPr/>
        </p:nvCxnSpPr>
        <p:spPr>
          <a:xfrm>
            <a:off x="2994639" y="5715306"/>
            <a:ext cx="2446041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5477256" y="552328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44098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582503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「オンボーディングガイダンス」をタップ</a:t>
            </a:r>
          </a:p>
        </p:txBody>
      </p:sp>
      <p:pic>
        <p:nvPicPr>
          <p:cNvPr id="5" name="Picture 4" descr="d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55854" y="4571918"/>
            <a:ext cx="1192863" cy="1548315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148717" y="5346076"/>
            <a:ext cx="3291963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5154052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5071756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オンボーディングガイダンス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5455804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中身をすべてクリアする</a:t>
            </a:r>
          </a:p>
        </p:txBody>
      </p:sp>
      <p:pic>
        <p:nvPicPr>
          <p:cNvPr id="5" name="Picture 4" descr="d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1674" y="3158374"/>
            <a:ext cx="2126959" cy="258987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18634" y="4453311"/>
            <a:ext cx="2322046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42612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41789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4つの項目をすべてクリア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5630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上から順に進める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すべて「完了」になる（5/5）</a:t>
            </a:r>
          </a:p>
        </p:txBody>
      </p:sp>
      <p:pic>
        <p:nvPicPr>
          <p:cNvPr id="5" name="Picture 4" descr="d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650453" y="2689948"/>
            <a:ext cx="454403" cy="233968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3104857" y="2806932"/>
            <a:ext cx="2335823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614908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32612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5/5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16660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 5/5 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7606" y="3654354"/>
            <a:ext cx="335919" cy="206633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>
            <a:off x="3063525" y="4687524"/>
            <a:ext cx="2377155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4495500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13204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4つとも「完了」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4797252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4つのガイダンスがすべて完了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ホームで「100%」を確認</a:t>
            </a:r>
          </a:p>
        </p:txBody>
      </p:sp>
      <p:pic>
        <p:nvPicPr>
          <p:cNvPr id="5" name="Picture 4" descr="d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2281509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997185" y="2174679"/>
            <a:ext cx="542578" cy="661062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1539763" y="2505211"/>
            <a:ext cx="3900917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313187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0891"/>
            <a:ext cx="5943600" cy="4114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完了 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14939"/>
            <a:ext cx="5943600" cy="36576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すべてクリアすると、100% になる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④-14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100%になったら登録チームに報告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1560" y="1691640"/>
            <a:ext cx="640080" cy="640080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46304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ホームで、完了が 100% になっているか確認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51460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51560" y="3108960"/>
            <a:ext cx="640080" cy="640080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88036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100% になったら、登録チームに報告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931920"/>
            <a:ext cx="914400" cy="411480"/>
          </a:xfrm>
          <a:prstGeom prst="rect">
            <a:avLst/>
          </a:prstGeom>
          <a:noFill/>
        </p:spPr>
        <p:txBody>
          <a:bodyPr wrap="square" lIns="45720" tIns="22860" rIns="45720" bIns="22860" anchor="t">
            <a:spAutoFit/>
          </a:bodyPr>
          <a:lstStyle/>
          <a:p>
            <a:pPr algn="ctr"/>
            <a:r>
              <a:rPr sz="16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97680"/>
            <a:ext cx="10698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051560" y="4526280"/>
            <a:ext cx="640080" cy="640080"/>
          </a:xfrm>
          <a:prstGeom prst="ellipse">
            <a:avLst/>
          </a:prstGeom>
          <a:solidFill>
            <a:srgbClr val="126EC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4297680"/>
            <a:ext cx="9326880" cy="1097280"/>
          </a:xfrm>
          <a:prstGeom prst="rect">
            <a:avLst/>
          </a:prstGeom>
          <a:noFill/>
        </p:spPr>
        <p:txBody>
          <a:bodyPr wrap="square" lIns="45720" tIns="22860" rIns="45720" bIns="22860" anchor="ctr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  <a:latin typeface="Yu Gothic"/>
              </a:rPr>
              <a:t>登録チームから、完了のお知らせが届く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859</Words>
  <Application>Microsoft Office PowerPoint</Application>
  <PresentationFormat>ワイド画面</PresentationFormat>
  <Paragraphs>379</Paragraphs>
  <Slides>34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34</vt:i4>
      </vt:variant>
    </vt:vector>
  </HeadingPairs>
  <TitlesOfParts>
    <vt:vector size="41" baseType="lpstr">
      <vt:lpstr>Meiryo UI</vt:lpstr>
      <vt:lpstr>Noto Sans JP</vt:lpstr>
      <vt:lpstr>Noto Sans JP Bold</vt:lpstr>
      <vt:lpstr>Yu Gothic</vt:lpstr>
      <vt:lpstr>Yu Gothic</vt:lpstr>
      <vt:lpstr>Arial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啓人</dc:creator>
  <cp:lastModifiedBy>雄登 加賀谷</cp:lastModifiedBy>
  <cp:revision>7</cp:revision>
  <dcterms:created xsi:type="dcterms:W3CDTF">2025-01-07T03:42:06Z</dcterms:created>
  <dcterms:modified xsi:type="dcterms:W3CDTF">2026-10-16T01:05:13Z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