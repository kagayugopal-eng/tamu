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5"/>
  </p:notesMasterIdLst>
  <p:sldIdLst>
    <p:sldId id="256" r:id="rId5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B2F4B-37FA-F442-99A4-0BBC95A3B399}" type="datetimeFigureOut">
              <a:rPr kumimoji="1" lang="ja-JP" altLang="en-US" smtClean="0"/>
              <a:t>2026/7/15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C1D0C-C09E-5640-831D-BC9E2B99CE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61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">
            <a:extLst>
              <a:ext uri="{FF2B5EF4-FFF2-40B4-BE49-F238E27FC236}">
                <a16:creationId xmlns:a16="http://schemas.microsoft.com/office/drawing/2014/main" id="{9AE60DE3-AE18-AAB2-F70F-7ADEB87EE36D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EAED067-7602-4A49-FB84-880DEE254FB9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2196AC1A-AE73-6289-5AD1-B1D2705E18A2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15C763-F531-386A-DB92-27FE7A14AFF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1" name="AutoShape 7">
            <a:extLst>
              <a:ext uri="{FF2B5EF4-FFF2-40B4-BE49-F238E27FC236}">
                <a16:creationId xmlns:a16="http://schemas.microsoft.com/office/drawing/2014/main" id="{1F89C03A-5718-6F99-75B9-8E2A0661E491}"/>
              </a:ext>
            </a:extLst>
          </p:cNvPr>
          <p:cNvSpPr/>
          <p:nvPr userDrawn="1"/>
        </p:nvSpPr>
        <p:spPr>
          <a:xfrm>
            <a:off x="2283315" y="3912307"/>
            <a:ext cx="7625370" cy="0"/>
          </a:xfrm>
          <a:prstGeom prst="line">
            <a:avLst/>
          </a:prstGeom>
          <a:ln w="1238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22970FB3-78B9-6028-9919-1014E94084A2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C95E5D66-7A28-F4A4-4163-C3CF4CE8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522" y="3115390"/>
            <a:ext cx="7634958" cy="6272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0" name="テキスト プレースホルダー 2">
            <a:extLst>
              <a:ext uri="{FF2B5EF4-FFF2-40B4-BE49-F238E27FC236}">
                <a16:creationId xmlns:a16="http://schemas.microsoft.com/office/drawing/2014/main" id="{7505B7B6-E1A1-DFBC-2DB7-139E34163B4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566427" y="4099997"/>
            <a:ext cx="3342258" cy="104773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52E466-E5A2-FBA5-9B6A-50A0B73F79EF}"/>
              </a:ext>
            </a:extLst>
          </p:cNvPr>
          <p:cNvSpPr/>
          <p:nvPr userDrawn="1"/>
        </p:nvSpPr>
        <p:spPr>
          <a:xfrm>
            <a:off x="235712" y="254001"/>
            <a:ext cx="1198255" cy="4317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関係者秘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BD828F4A-6B69-2A0A-E3CE-78CCC5B6FBB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1297A563-B300-C6DE-8DA7-A770057CB88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FDF57390-48BD-BAAD-57EF-53AA9C7CDECE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21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>
            <a:extLst>
              <a:ext uri="{FF2B5EF4-FFF2-40B4-BE49-F238E27FC236}">
                <a16:creationId xmlns:a16="http://schemas.microsoft.com/office/drawing/2014/main" id="{7B3356AD-D55D-9B2F-8F99-635D1BF00385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C7DD35B-0359-DDC1-3503-13B7F0A28D84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FB2EBD36-3F54-2C01-FF8F-1A33AF0A07B3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26C3D23-6CF7-CBE0-5446-4E2FA97EEA4B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2" name="Group 6">
            <a:extLst>
              <a:ext uri="{FF2B5EF4-FFF2-40B4-BE49-F238E27FC236}">
                <a16:creationId xmlns:a16="http://schemas.microsoft.com/office/drawing/2014/main" id="{3A5456A3-E4CD-079B-984F-A71B316FF9E9}"/>
              </a:ext>
            </a:extLst>
          </p:cNvPr>
          <p:cNvGrpSpPr/>
          <p:nvPr userDrawn="1"/>
        </p:nvGrpSpPr>
        <p:grpSpPr>
          <a:xfrm>
            <a:off x="129533" y="112960"/>
            <a:ext cx="111699" cy="471240"/>
            <a:chOff x="0" y="0"/>
            <a:chExt cx="44128" cy="186169"/>
          </a:xfrm>
        </p:grpSpPr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ACBAE2-E83E-077A-C3BA-56BB950637E3}"/>
                </a:ext>
              </a:extLst>
            </p:cNvPr>
            <p:cNvSpPr/>
            <p:nvPr/>
          </p:nvSpPr>
          <p:spPr>
            <a:xfrm>
              <a:off x="0" y="0"/>
              <a:ext cx="44128" cy="186169"/>
            </a:xfrm>
            <a:custGeom>
              <a:avLst/>
              <a:gdLst/>
              <a:ahLst/>
              <a:cxnLst/>
              <a:rect l="l" t="t" r="r" b="b"/>
              <a:pathLst>
                <a:path w="44128" h="186169">
                  <a:moveTo>
                    <a:pt x="0" y="0"/>
                  </a:moveTo>
                  <a:lnTo>
                    <a:pt x="44128" y="0"/>
                  </a:lnTo>
                  <a:lnTo>
                    <a:pt x="44128" y="186169"/>
                  </a:lnTo>
                  <a:lnTo>
                    <a:pt x="0" y="18616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C85CE811-6127-3120-C11D-1707DDB68A49}"/>
                </a:ext>
              </a:extLst>
            </p:cNvPr>
            <p:cNvSpPr txBox="1"/>
            <p:nvPr/>
          </p:nvSpPr>
          <p:spPr>
            <a:xfrm>
              <a:off x="0" y="-47625"/>
              <a:ext cx="44128" cy="233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AutoShape 9">
            <a:extLst>
              <a:ext uri="{FF2B5EF4-FFF2-40B4-BE49-F238E27FC236}">
                <a16:creationId xmlns:a16="http://schemas.microsoft.com/office/drawing/2014/main" id="{E6FF36D6-9C9F-8366-38C2-26B12772C7E1}"/>
              </a:ext>
            </a:extLst>
          </p:cNvPr>
          <p:cNvSpPr/>
          <p:nvPr userDrawn="1"/>
        </p:nvSpPr>
        <p:spPr>
          <a:xfrm>
            <a:off x="0" y="723900"/>
            <a:ext cx="12192000" cy="0"/>
          </a:xfrm>
          <a:prstGeom prst="line">
            <a:avLst/>
          </a:prstGeom>
          <a:ln w="476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58538464-14BF-0206-1642-6A6E521D240D}"/>
              </a:ext>
            </a:extLst>
          </p:cNvPr>
          <p:cNvSpPr/>
          <p:nvPr userDrawn="1"/>
        </p:nvSpPr>
        <p:spPr>
          <a:xfrm>
            <a:off x="10797554" y="141825"/>
            <a:ext cx="1225089" cy="465023"/>
          </a:xfrm>
          <a:custGeom>
            <a:avLst/>
            <a:gdLst/>
            <a:ahLst/>
            <a:cxnLst/>
            <a:rect l="l" t="t" r="r" b="b"/>
            <a:pathLst>
              <a:path w="1837634" h="697535">
                <a:moveTo>
                  <a:pt x="0" y="0"/>
                </a:moveTo>
                <a:lnTo>
                  <a:pt x="1837634" y="0"/>
                </a:lnTo>
                <a:lnTo>
                  <a:pt x="1837634" y="697535"/>
                </a:lnTo>
                <a:lnTo>
                  <a:pt x="0" y="69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EBFC680D-F181-2CEA-5E26-E14ED523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73" y="112960"/>
            <a:ext cx="10344727" cy="471240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8C09861C-5295-F52A-1C2C-EEF8E415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672" y="855134"/>
            <a:ext cx="11494656" cy="5556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DE11C5F-EE92-8048-1688-48A77E46BEC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70CEC26-D75C-C611-84B3-22C56F6BDD14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569DF34D-AF43-D844-BA50-8479BC93CF79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53077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E00B2FFB-046E-B2C5-1BC0-18983FF0FC26}"/>
              </a:ext>
            </a:extLst>
          </p:cNvPr>
          <p:cNvGrpSpPr/>
          <p:nvPr userDrawn="1"/>
        </p:nvGrpSpPr>
        <p:grpSpPr>
          <a:xfrm>
            <a:off x="1" y="1"/>
            <a:ext cx="12192000" cy="6858000"/>
            <a:chOff x="0" y="0"/>
            <a:chExt cx="4957720" cy="397671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8A4124F-444C-B07B-8C71-34F504A6EF4F}"/>
                </a:ext>
              </a:extLst>
            </p:cNvPr>
            <p:cNvSpPr/>
            <p:nvPr/>
          </p:nvSpPr>
          <p:spPr>
            <a:xfrm>
              <a:off x="0" y="0"/>
              <a:ext cx="4957720" cy="3976714"/>
            </a:xfrm>
            <a:custGeom>
              <a:avLst/>
              <a:gdLst/>
              <a:ahLst/>
              <a:cxnLst/>
              <a:rect l="l" t="t" r="r" b="b"/>
              <a:pathLst>
                <a:path w="4957720" h="3976714">
                  <a:moveTo>
                    <a:pt x="0" y="0"/>
                  </a:moveTo>
                  <a:lnTo>
                    <a:pt x="4957720" y="0"/>
                  </a:lnTo>
                  <a:lnTo>
                    <a:pt x="4957720" y="3976714"/>
                  </a:lnTo>
                  <a:lnTo>
                    <a:pt x="0" y="3976714"/>
                  </a:lnTo>
                  <a:close/>
                </a:path>
              </a:pathLst>
            </a:custGeom>
            <a:gradFill rotWithShape="1">
              <a:gsLst>
                <a:gs pos="0">
                  <a:srgbClr val="4460DF">
                    <a:alpha val="10000"/>
                  </a:srgbClr>
                </a:gs>
                <a:gs pos="33333">
                  <a:srgbClr val="55BECD">
                    <a:alpha val="9550"/>
                  </a:srgbClr>
                </a:gs>
                <a:gs pos="66667">
                  <a:srgbClr val="835FFF">
                    <a:alpha val="10000"/>
                  </a:srgbClr>
                </a:gs>
                <a:gs pos="100000">
                  <a:srgbClr val="FF66C4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D47CBF6-EFCA-52DA-B05C-B7D51380E448}"/>
                </a:ext>
              </a:extLst>
            </p:cNvPr>
            <p:cNvSpPr txBox="1"/>
            <p:nvPr/>
          </p:nvSpPr>
          <p:spPr>
            <a:xfrm>
              <a:off x="0" y="9525"/>
              <a:ext cx="4957720" cy="3967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0"/>
                </a:lnSpc>
              </a:pPr>
              <a:endParaRPr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A133DE25-D836-8A96-0AC4-C05EFFC09FDB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496773" y="-2945600"/>
            <a:ext cx="5882069" cy="7122331"/>
            <a:chOff x="0" y="0"/>
            <a:chExt cx="11764137" cy="142446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5F80635-B023-2122-227A-614BA3C1036E}"/>
                </a:ext>
              </a:extLst>
            </p:cNvPr>
            <p:cNvSpPr/>
            <p:nvPr/>
          </p:nvSpPr>
          <p:spPr>
            <a:xfrm>
              <a:off x="0" y="0"/>
              <a:ext cx="11764137" cy="14244701"/>
            </a:xfrm>
            <a:custGeom>
              <a:avLst/>
              <a:gdLst/>
              <a:ahLst/>
              <a:cxnLst/>
              <a:rect l="l" t="t" r="r" b="b"/>
              <a:pathLst>
                <a:path w="11764137" h="14244701">
                  <a:moveTo>
                    <a:pt x="11764137" y="3355213"/>
                  </a:moveTo>
                  <a:lnTo>
                    <a:pt x="8958961" y="324739"/>
                  </a:lnTo>
                  <a:lnTo>
                    <a:pt x="550037" y="0"/>
                  </a:lnTo>
                  <a:lnTo>
                    <a:pt x="0" y="14244701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0627" t="-333" r="-40603" b="-794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76AB430-91B9-5FB1-4FAF-7924E23DFBF6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182D6B9-5898-B8A5-DC51-85AA9691DCC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3" name="Freeform 16">
            <a:extLst>
              <a:ext uri="{FF2B5EF4-FFF2-40B4-BE49-F238E27FC236}">
                <a16:creationId xmlns:a16="http://schemas.microsoft.com/office/drawing/2014/main" id="{18FFC105-2600-5EC1-0E26-9DFE95C39AB6}"/>
              </a:ext>
            </a:extLst>
          </p:cNvPr>
          <p:cNvSpPr/>
          <p:nvPr userDrawn="1"/>
        </p:nvSpPr>
        <p:spPr>
          <a:xfrm>
            <a:off x="9395204" y="232068"/>
            <a:ext cx="2812437" cy="6627039"/>
          </a:xfrm>
          <a:custGeom>
            <a:avLst/>
            <a:gdLst/>
            <a:ahLst/>
            <a:cxnLst/>
            <a:rect l="l" t="t" r="r" b="b"/>
            <a:pathLst>
              <a:path w="4218655" h="9940559">
                <a:moveTo>
                  <a:pt x="0" y="0"/>
                </a:moveTo>
                <a:lnTo>
                  <a:pt x="4218656" y="0"/>
                </a:lnTo>
                <a:lnTo>
                  <a:pt x="4218656" y="9940559"/>
                </a:lnTo>
                <a:lnTo>
                  <a:pt x="0" y="994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616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649DAA33-1E27-7822-3D91-605BE00CCD0C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A76073C2-FA84-0EAE-B028-4C4673E530EE}"/>
              </a:ext>
            </a:extLst>
          </p:cNvPr>
          <p:cNvSpPr/>
          <p:nvPr userDrawn="1"/>
        </p:nvSpPr>
        <p:spPr>
          <a:xfrm rot="5400000">
            <a:off x="7647097" y="2343514"/>
            <a:ext cx="2584968" cy="6503565"/>
          </a:xfrm>
          <a:custGeom>
            <a:avLst/>
            <a:gdLst/>
            <a:ahLst/>
            <a:cxnLst/>
            <a:rect l="l" t="t" r="r" b="b"/>
            <a:pathLst>
              <a:path w="3877452" h="9755348">
                <a:moveTo>
                  <a:pt x="0" y="0"/>
                </a:moveTo>
                <a:lnTo>
                  <a:pt x="3877452" y="0"/>
                </a:lnTo>
                <a:lnTo>
                  <a:pt x="3877452" y="9755348"/>
                </a:lnTo>
                <a:lnTo>
                  <a:pt x="0" y="9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98" r="-33405"/>
            </a:stretch>
          </a:blipFill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581738A-6C36-BD7B-89F1-16482126A9AD}"/>
              </a:ext>
            </a:extLst>
          </p:cNvPr>
          <p:cNvGrpSpPr/>
          <p:nvPr userDrawn="1"/>
        </p:nvGrpSpPr>
        <p:grpSpPr>
          <a:xfrm>
            <a:off x="32178" y="4339272"/>
            <a:ext cx="1730887" cy="1730887"/>
            <a:chOff x="0" y="0"/>
            <a:chExt cx="812800" cy="812800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776C52-571E-C7D0-382A-F1091B855C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593C97DB-DAE5-8185-34BE-09114DAF6BF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9" name="Freeform 7">
            <a:extLst>
              <a:ext uri="{FF2B5EF4-FFF2-40B4-BE49-F238E27FC236}">
                <a16:creationId xmlns:a16="http://schemas.microsoft.com/office/drawing/2014/main" id="{21D967B5-8296-273C-83D8-49AFE69CACB5}"/>
              </a:ext>
            </a:extLst>
          </p:cNvPr>
          <p:cNvSpPr/>
          <p:nvPr userDrawn="1"/>
        </p:nvSpPr>
        <p:spPr>
          <a:xfrm>
            <a:off x="290418" y="5008111"/>
            <a:ext cx="2287097" cy="1848642"/>
          </a:xfrm>
          <a:custGeom>
            <a:avLst/>
            <a:gdLst/>
            <a:ahLst/>
            <a:cxnLst/>
            <a:rect l="l" t="t" r="r" b="b"/>
            <a:pathLst>
              <a:path w="3430645" h="2772963">
                <a:moveTo>
                  <a:pt x="0" y="0"/>
                </a:moveTo>
                <a:lnTo>
                  <a:pt x="3430645" y="0"/>
                </a:lnTo>
                <a:lnTo>
                  <a:pt x="3430645" y="2772964"/>
                </a:lnTo>
                <a:lnTo>
                  <a:pt x="0" y="2772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3717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79D9840A-65BA-D421-F952-282C4D1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774" y="3115390"/>
            <a:ext cx="8398454" cy="6272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87FBEF5-411A-9EC8-05B0-C44CF6F7B4B2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200DCEB-77AC-9728-AE62-E62E79AD7B4F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0A11723D-72FA-FD19-8469-B18D30214D4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8451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B847F6B2-8D52-045F-D872-092F50CB5FAA}"/>
              </a:ext>
            </a:extLst>
          </p:cNvPr>
          <p:cNvSpPr/>
          <p:nvPr userDrawn="1"/>
        </p:nvSpPr>
        <p:spPr>
          <a:xfrm>
            <a:off x="469964" y="530755"/>
            <a:ext cx="11252072" cy="5796491"/>
          </a:xfrm>
          <a:prstGeom prst="rect">
            <a:avLst/>
          </a:prstGeom>
          <a:gradFill rotWithShape="1">
            <a:gsLst>
              <a:gs pos="0">
                <a:srgbClr val="50B7F1">
                  <a:alpha val="47160"/>
                </a:srgbClr>
              </a:gs>
              <a:gs pos="25000">
                <a:srgbClr val="94B9FF">
                  <a:alpha val="37080"/>
                </a:srgbClr>
              </a:gs>
              <a:gs pos="50000">
                <a:srgbClr val="FFFFFF">
                  <a:alpha val="0"/>
                </a:srgbClr>
              </a:gs>
              <a:gs pos="75000">
                <a:srgbClr val="FF61D2">
                  <a:alpha val="24480"/>
                </a:srgbClr>
              </a:gs>
              <a:gs pos="100000">
                <a:srgbClr val="FFFFFF">
                  <a:alpha val="30600"/>
                </a:srgbClr>
              </a:gs>
            </a:gsLst>
            <a:lin ang="2700000"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8C9FA76-8303-4316-AB34-73BAECE60BE3}"/>
              </a:ext>
            </a:extLst>
          </p:cNvPr>
          <p:cNvSpPr txBox="1"/>
          <p:nvPr userDrawn="1"/>
        </p:nvSpPr>
        <p:spPr>
          <a:xfrm>
            <a:off x="4866660" y="4576918"/>
            <a:ext cx="2871572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 b="1" dirty="0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 </a:t>
            </a:r>
            <a:r>
              <a:rPr lang="en-US" sz="1600" b="1" dirty="0" err="1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良いサービスで物流に</a:t>
            </a:r>
            <a:r>
              <a:rPr lang="en-US" sz="1600" b="1" dirty="0" err="1">
                <a:solidFill>
                  <a:srgbClr val="FF5757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彩を</a:t>
            </a:r>
            <a:r>
              <a:rPr lang="en-US" sz="1600" b="1" dirty="0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。</a:t>
            </a:r>
          </a:p>
        </p:txBody>
      </p:sp>
      <p:sp>
        <p:nvSpPr>
          <p:cNvPr id="7" name="Freeform 7" descr="ロゴ, アイコン  自動的に生成された説明">
            <a:extLst>
              <a:ext uri="{FF2B5EF4-FFF2-40B4-BE49-F238E27FC236}">
                <a16:creationId xmlns:a16="http://schemas.microsoft.com/office/drawing/2014/main" id="{67EC9E67-3C16-B676-2FEF-4660D750C16E}"/>
              </a:ext>
            </a:extLst>
          </p:cNvPr>
          <p:cNvSpPr/>
          <p:nvPr userDrawn="1"/>
        </p:nvSpPr>
        <p:spPr>
          <a:xfrm>
            <a:off x="4013200" y="1968500"/>
            <a:ext cx="3835393" cy="1460500"/>
          </a:xfrm>
          <a:custGeom>
            <a:avLst/>
            <a:gdLst/>
            <a:ahLst/>
            <a:cxnLst/>
            <a:rect l="l" t="t" r="r" b="b"/>
            <a:pathLst>
              <a:path w="5753090" h="2190750">
                <a:moveTo>
                  <a:pt x="0" y="0"/>
                </a:moveTo>
                <a:lnTo>
                  <a:pt x="5753090" y="0"/>
                </a:lnTo>
                <a:lnTo>
                  <a:pt x="575309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250A23-9DD9-6799-E031-094B05017037}"/>
              </a:ext>
            </a:extLst>
          </p:cNvPr>
          <p:cNvSpPr txBox="1"/>
          <p:nvPr userDrawn="1"/>
        </p:nvSpPr>
        <p:spPr>
          <a:xfrm>
            <a:off x="4177221" y="3520278"/>
            <a:ext cx="3921685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Delivering good, </a:t>
            </a: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Coloring the scene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40EE4B5-B3BA-F650-F27B-5B4A0B613515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0EC0883-F297-4581-76B4-E5ED89B81CA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 dirty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862E90C7-8AA3-E57B-84AA-DB481F3C0F3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107126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28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4FB6BE"/>
                </a:solidFill>
                <a:latin typeface="Yu Gothic"/>
                <a:ea typeface="Yu Gothic"/>
              </a:rPr>
              <a:t>Gopal 登録チーム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058400" cy="21945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6400" b="1">
                <a:solidFill>
                  <a:srgbClr val="333333"/>
                </a:solidFill>
                <a:latin typeface="Yu Gothic"/>
                <a:ea typeface="Yu Gothic"/>
              </a:rPr>
              <a:t>登録書類の準備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66666"/>
                </a:solidFill>
                <a:latin typeface="Yu Gothic"/>
                <a:ea typeface="Yu Gothic"/>
              </a:rPr>
              <a:t>採用決定後：まず必要書類をそろえる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採用決定後の流れ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2468880" cy="1645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666666"/>
                </a:solidFill>
                <a:latin typeface="Yu Gothic"/>
              </a:rPr>
              <a:t>採用決定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2926080"/>
            <a:ext cx="4572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237744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377440"/>
            <a:ext cx="2468880" cy="1645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① 必要書類を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そろえる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4114800"/>
            <a:ext cx="24688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4FB6BE"/>
                </a:solidFill>
                <a:latin typeface="Yu Gothic"/>
              </a:rPr>
              <a:t>今回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926080"/>
            <a:ext cx="4572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468880" cy="1645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666666"/>
                </a:solidFill>
                <a:latin typeface="Yu Gothic"/>
              </a:rPr>
              <a:t>② 契約</a:t>
            </a:r>
          </a:p>
          <a:p>
            <a:pPr algn="ctr"/>
            <a:r>
              <a:rPr sz="1800" b="1">
                <a:solidFill>
                  <a:srgbClr val="666666"/>
                </a:solidFill>
                <a:latin typeface="Yu Gothic"/>
              </a:rPr>
              <a:t>（クラウドサイン）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14800"/>
            <a:ext cx="24688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Yu Gothic"/>
              </a:rPr>
              <a:t>次回以降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926080"/>
            <a:ext cx="457200" cy="5486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2000" b="1">
                <a:solidFill>
                  <a:srgbClr val="666666"/>
                </a:solidFill>
                <a:latin typeface="Yu Gothic"/>
              </a:rPr>
              <a:t>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2377440"/>
            <a:ext cx="2468880" cy="1645920"/>
          </a:xfrm>
          <a:prstGeom prst="roundRect">
            <a:avLst>
              <a:gd name="adj" fmla="val 10000"/>
            </a:avLst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377440"/>
            <a:ext cx="2468880" cy="16459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666666"/>
                </a:solidFill>
                <a:latin typeface="Yu Gothic"/>
              </a:rPr>
              <a:t>③ 格納・登録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114800"/>
            <a:ext cx="246888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Yu Gothic"/>
              </a:rPr>
              <a:t>次回以降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この資料：①必要書類をそろえるところまで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新必要書類チェック表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5297277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3117" y="1737360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94557" y="1737360"/>
            <a:ext cx="40233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600" b="1">
                <a:solidFill>
                  <a:srgbClr val="333333"/>
                </a:solidFill>
                <a:latin typeface="Yu Gothic"/>
              </a:rPr>
              <a:t>●　全員必須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3117" y="2743200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4557" y="2743200"/>
            <a:ext cx="40233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600" b="1">
                <a:solidFill>
                  <a:srgbClr val="F29A3C"/>
                </a:solidFill>
                <a:latin typeface="Yu Gothic"/>
              </a:rPr>
              <a:t>オレンジ　該当者のみ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3117" y="3749039"/>
            <a:ext cx="4206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4557" y="3749039"/>
            <a:ext cx="4023360" cy="77724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600" b="1">
                <a:solidFill>
                  <a:srgbClr val="666666"/>
                </a:solidFill>
                <a:latin typeface="Yu Gothic"/>
              </a:rPr>
              <a:t>グレー　外国籍の方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3117" y="4846320"/>
            <a:ext cx="4206240" cy="8229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オレンジ入力で</a:t>
            </a:r>
          </a:p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必要書類が自動で選ばれる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全員必須の書類（●）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82296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8229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番号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280160"/>
            <a:ext cx="420624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42062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書類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80160"/>
            <a:ext cx="137160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0" y="1280160"/>
            <a:ext cx="13716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形式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280160"/>
            <a:ext cx="4846320" cy="411480"/>
          </a:xfrm>
          <a:prstGeom prst="rect">
            <a:avLst/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280160"/>
            <a:ext cx="484632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ファイル名（例）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91639"/>
            <a:ext cx="82296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691639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1691639"/>
            <a:ext cx="420624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1691639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新必要書類チェック表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1691639"/>
            <a:ext cx="137160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691639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元の形式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1691639"/>
            <a:ext cx="484632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1691639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00.新必要書類チェック表 氏名.xlsx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58568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258568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1.1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258568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2258568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面接前同意forms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77840" y="2258568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840" y="2258568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2258568"/>
            <a:ext cx="4846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258568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1.1面接前同意forms 氏名.pdf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825496"/>
            <a:ext cx="82296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825496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2.1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71600" y="2825496"/>
            <a:ext cx="420624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2825496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面接時チェックシート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77840" y="2825496"/>
            <a:ext cx="137160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0" y="2825496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元の形式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2825496"/>
            <a:ext cx="484632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825496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2.1面接時チェックシート 氏名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392424"/>
            <a:ext cx="822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392424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71600" y="3392424"/>
            <a:ext cx="42062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371600" y="3392424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クラウドサイン（契約書・別紙・宣誓書）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77840" y="3392424"/>
            <a:ext cx="13716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77840" y="3392424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3392424"/>
            <a:ext cx="48463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3392424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3.1＋クラウドサインのファイル名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3959352"/>
            <a:ext cx="82296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959352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3959352"/>
            <a:ext cx="420624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71600" y="3959352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免許証（両面）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77840" y="3959352"/>
            <a:ext cx="137160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3959352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49440" y="3959352"/>
            <a:ext cx="484632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959352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3.2免許証（両面）氏名.pdf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526280"/>
            <a:ext cx="82296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526280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0" y="4526280"/>
            <a:ext cx="420624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71600" y="4526280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顔写真データ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77840" y="4526280"/>
            <a:ext cx="137160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4526280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JPEG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49440" y="4526280"/>
            <a:ext cx="4846320" cy="566928"/>
          </a:xfrm>
          <a:prstGeom prst="rect">
            <a:avLst/>
          </a:prstGeom>
          <a:solidFill>
            <a:srgbClr val="FFF6E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4526280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3.3顔写真 氏名.jpg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093207"/>
            <a:ext cx="82296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093207"/>
            <a:ext cx="82296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1">
                <a:solidFill>
                  <a:srgbClr val="4FB6BE"/>
                </a:solidFill>
                <a:latin typeface="Yu Gothic"/>
              </a:rPr>
              <a:t>3.4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371600" y="5093207"/>
            <a:ext cx="420624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5093207"/>
            <a:ext cx="420624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面接後forms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77840" y="5093207"/>
            <a:ext cx="137160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77840" y="5093207"/>
            <a:ext cx="137160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Yu Gothic"/>
              </a:rPr>
              <a:t>PDF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49440" y="5093207"/>
            <a:ext cx="4846320" cy="566928"/>
          </a:xfrm>
          <a:prstGeom prst="rect">
            <a:avLst/>
          </a:prstGeom>
          <a:solidFill>
            <a:srgbClr val="F6FBFC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5093207"/>
            <a:ext cx="4846320" cy="56692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3.4面接後forms 氏名.pdf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7607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200" b="0">
                <a:solidFill>
                  <a:srgbClr val="F29A3C"/>
                </a:solidFill>
                <a:latin typeface="Yu Gothic"/>
              </a:rPr>
              <a:t>オレンジ＝PDFにしない書類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該当者のみ（オレンジ入力）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1270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外国籍の方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在留カードのコピー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50008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住民票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54680"/>
            <a:ext cx="5029200" cy="32004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Yu Gothic"/>
              </a:rPr>
              <a:t>※永住権か就労制限なしが条件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25880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FFF6E0"/>
          </a:solidFill>
          <a:ln w="12700">
            <a:solidFill>
              <a:srgbClr val="F2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F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5486400" cy="228600"/>
          </a:xfrm>
          <a:prstGeom prst="rect">
            <a:avLst/>
          </a:prstGeom>
          <a:solidFill>
            <a:srgbClr val="F2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325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そのほか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4.1 運転記録証明（過去5年分）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350008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4.2 携帯貸与覚書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49039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749039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5486400" cy="22860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49039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車両情報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4340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5.1 車検証・自動車検査記録事項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73168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5.2 自賠責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02936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5.3 任意保険（対人対物無制限）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749039"/>
            <a:ext cx="5486400" cy="2240280"/>
          </a:xfrm>
          <a:prstGeom prst="roundRect">
            <a:avLst>
              <a:gd name="adj" fmla="val 8000"/>
            </a:avLst>
          </a:prstGeom>
          <a:solidFill>
            <a:srgbClr val="FDECF3"/>
          </a:solidFill>
          <a:ln w="12700">
            <a:solidFill>
              <a:srgbClr val="E12A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749039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977639"/>
            <a:ext cx="5486400" cy="22860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749039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W-FINANCE リース車両契約者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4340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6.1 リース車に関する契約書（登録チーム格納）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773168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6.2 住民票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02936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Yu Gothic"/>
              </a:rPr>
              <a:t>6.3 安全管理者講習修了書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ファイル名のルール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Yu Gothic"/>
              </a:rPr>
              <a:t>Excelの「番号」と「書類名」のとおりに付ける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88720" cy="914400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118872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3.2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1887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4FB6BE"/>
                </a:solidFill>
                <a:latin typeface="Yu Gothic"/>
              </a:rPr>
              <a:t>番号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210312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2103120"/>
            <a:ext cx="329184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免許証（両面）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63240"/>
            <a:ext cx="329184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126EC9"/>
                </a:solidFill>
                <a:latin typeface="Yu Gothic"/>
              </a:rPr>
              <a:t>書類名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10312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103120"/>
            <a:ext cx="210312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山田太郎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063240"/>
            <a:ext cx="210312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E12A82"/>
                </a:solidFill>
                <a:latin typeface="Yu Gothic"/>
              </a:rPr>
              <a:t>氏名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10312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103120"/>
            <a:ext cx="1280160" cy="9144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.pdf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63240"/>
            <a:ext cx="128016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ctr"/>
            <a:r>
              <a:rPr sz="1300" b="1">
                <a:solidFill>
                  <a:srgbClr val="666666"/>
                </a:solidFill>
                <a:latin typeface="Yu Gothic"/>
              </a:rPr>
              <a:t>形式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40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2700">
            <a:solidFill>
              <a:srgbClr val="4CAF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84048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46220"/>
            <a:ext cx="5394960" cy="205740"/>
          </a:xfrm>
          <a:prstGeom prst="rect">
            <a:avLst/>
          </a:prstGeom>
          <a:solidFill>
            <a:srgbClr val="4CA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40480"/>
            <a:ext cx="53949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✅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43400"/>
            <a:ext cx="502920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3.2免許証（両面）山田太郎.pdf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3.4面接後forms 山田太郎.pdf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840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26480" y="3840480"/>
            <a:ext cx="5394960" cy="41148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046220"/>
            <a:ext cx="5394960" cy="20574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840480"/>
            <a:ext cx="539496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❌ 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343400"/>
            <a:ext cx="5029200" cy="13716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免許証.pdf　（番号なし）</a:t>
            </a:r>
          </a:p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IMG_1234.jpg　（名前が分からない）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形式と画質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420624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126E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5486400" cy="457200"/>
          </a:xfrm>
          <a:prstGeom prst="roundRect">
            <a:avLst>
              <a:gd name="adj" fmla="val 8000"/>
            </a:avLst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86400" cy="228600"/>
          </a:xfrm>
          <a:prstGeom prst="rect">
            <a:avLst/>
          </a:prstGeom>
          <a:solidFill>
            <a:srgbClr val="12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形式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126EC9"/>
                </a:solidFill>
                <a:latin typeface="Yu Gothic"/>
              </a:rP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6888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顔写真・チェックシート以外すべて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08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126EC9"/>
                </a:solidFill>
                <a:latin typeface="Yu Gothic"/>
              </a:rPr>
              <a:t>JPEG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56616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顔写真（背景白・肩から上）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126EC9"/>
                </a:solidFill>
                <a:latin typeface="Yu Gothic"/>
              </a:rPr>
              <a:t>元の形式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チェックシート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32588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1325880"/>
            <a:ext cx="5440680" cy="457200"/>
          </a:xfrm>
          <a:prstGeom prst="roundRect">
            <a:avLst>
              <a:gd name="adj" fmla="val 8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554480"/>
            <a:ext cx="5440680" cy="22860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1325880"/>
            <a:ext cx="5440680" cy="45720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画質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D32F2F"/>
                </a:solidFill>
                <a:latin typeface="Yu Gothic"/>
              </a:rPr>
              <a:t>ぼやけはNG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46888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文字が読めること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D32F2F"/>
                </a:solidFill>
                <a:latin typeface="Yu Gothic"/>
              </a:rPr>
              <a:t>全体が写っている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56616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四隅が切れていない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206240"/>
            <a:ext cx="5029200" cy="45720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2000" b="1">
                <a:solidFill>
                  <a:srgbClr val="D32F2F"/>
                </a:solidFill>
                <a:latin typeface="Yu Gothic"/>
              </a:rPr>
              <a:t>表と裏の両方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5029200" cy="41148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Yu Gothic"/>
              </a:rPr>
              <a:t>免許証は両面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契約書の氏名は免許証の漢字で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FDECEC"/>
          </a:solidFill>
          <a:ln w="1905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73152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Yu Gothic"/>
              </a:rPr>
              <a:t>免許証に載っている字のとおりに入力・署名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2743200" cy="41148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74320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免許証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286000"/>
            <a:ext cx="8321040" cy="411480"/>
          </a:xfrm>
          <a:prstGeom prst="rect">
            <a:avLst/>
          </a:prstGeom>
          <a:solidFill>
            <a:srgbClr val="E12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286000"/>
            <a:ext cx="8321040" cy="4114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間違えやすい字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齋藤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697480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697480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斎藤 ／ 斉藤 ／ 齊藤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278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27832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渡邉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227832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227832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渡辺 ／ 渡邊 ／ 渡部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58184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58184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髙橋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758184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3758184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高橋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8853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288536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山﨑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288536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4288536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山崎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818888"/>
            <a:ext cx="274320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18888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澤田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91840" y="4818888"/>
            <a:ext cx="8321040" cy="530352"/>
          </a:xfrm>
          <a:prstGeom prst="rect">
            <a:avLst/>
          </a:prstGeom>
          <a:solidFill>
            <a:srgbClr val="FDECF3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818888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沢田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3492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2743200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000" b="1">
                <a:solidFill>
                  <a:srgbClr val="E12A82"/>
                </a:solidFill>
                <a:latin typeface="Yu Gothic"/>
              </a:rPr>
              <a:t>濱田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91840" y="5349240"/>
            <a:ext cx="83210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0" y="5349240"/>
            <a:ext cx="7955279" cy="530352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600" b="0">
                <a:solidFill>
                  <a:srgbClr val="D32F2F"/>
                </a:solidFill>
                <a:latin typeface="Yu Gothic"/>
              </a:rPr>
              <a:t>浜田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Yu Gothic"/>
              </a:rPr>
              <a:t>外国籍の方も免許証記載の名前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777240"/>
            <a:ext cx="502920" cy="384048"/>
          </a:xfrm>
          <a:prstGeom prst="roundRect">
            <a:avLst>
              <a:gd name="adj" fmla="val 8000"/>
            </a:avLst>
          </a:prstGeom>
          <a:solidFill>
            <a:srgbClr val="4FB6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77240"/>
            <a:ext cx="50292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777240"/>
            <a:ext cx="10607040" cy="384048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提出前チェック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71600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ファイル名が「番号＋書類名＋氏名」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21408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21408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121408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顔写真・チェックシート以外はPDF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71215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71215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871215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ぼやけ・見切れがない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21024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21024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621024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免許証は表と裏の両方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370831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1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70831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契約書の氏名が免許証と同じ漢字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120640"/>
            <a:ext cx="1106424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4FB6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64008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ctr"/>
            <a:r>
              <a:rPr sz="2200" b="1">
                <a:solidFill>
                  <a:srgbClr val="4FB6BE"/>
                </a:solidFill>
                <a:latin typeface="Yu Gothic"/>
              </a:rPr>
              <a:t>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20640"/>
            <a:ext cx="9966960" cy="640080"/>
          </a:xfrm>
          <a:prstGeom prst="rect">
            <a:avLst/>
          </a:prstGeom>
          <a:noFill/>
        </p:spPr>
        <p:txBody>
          <a:bodyPr wrap="square" lIns="45720" rIns="45720" tIns="22860" bIns="22860" anchor="ctr">
            <a:spAutoFit/>
          </a:bodyPr>
          <a:lstStyle/>
          <a:p>
            <a:pPr algn="l"/>
            <a:r>
              <a:rPr sz="1700" b="1">
                <a:solidFill>
                  <a:srgbClr val="333333"/>
                </a:solidFill>
                <a:latin typeface="Yu Gothic"/>
              </a:rPr>
              <a:t>該当者のみの書類が漏れていない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ユーザー定義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3b202c-ae80-4e15-8c69-6a1d9998050a">
      <Terms xmlns="http://schemas.microsoft.com/office/infopath/2007/PartnerControls"/>
    </lcf76f155ced4ddcb4097134ff3c332f>
    <TaxCatchAll xmlns="8ce37a9d-ae0a-4fdd-8655-54933143681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C6ACA214567D47A6078E47D8ED1BBE" ma:contentTypeVersion="13" ma:contentTypeDescription="Create a new document." ma:contentTypeScope="" ma:versionID="f730d0620a671d9ab611de6530dc9132">
  <xsd:schema xmlns:xsd="http://www.w3.org/2001/XMLSchema" xmlns:xs="http://www.w3.org/2001/XMLSchema" xmlns:p="http://schemas.microsoft.com/office/2006/metadata/properties" xmlns:ns2="183b202c-ae80-4e15-8c69-6a1d9998050a" xmlns:ns3="8ce37a9d-ae0a-4fdd-8655-549331436814" targetNamespace="http://schemas.microsoft.com/office/2006/metadata/properties" ma:root="true" ma:fieldsID="a496316d1bb1511e89dfc4f649fc0d5c" ns2:_="" ns3:_="">
    <xsd:import namespace="183b202c-ae80-4e15-8c69-6a1d9998050a"/>
    <xsd:import namespace="8ce37a9d-ae0a-4fdd-8655-5493314368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3b202c-ae80-4e15-8c69-6a1d999805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0122028-6687-4c6d-9ac4-9fc83d8b00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37a9d-ae0a-4fdd-8655-54933143681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bd1bf5a-518c-46d2-882f-9da665aaccff}" ma:internalName="TaxCatchAll" ma:showField="CatchAllData" ma:web="8ce37a9d-ae0a-4fdd-8655-5493314368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DC3C1EE-4368-4A3B-9235-E28EC1CBF6E7}">
  <ds:schemaRefs>
    <ds:schemaRef ds:uri="http://purl.org/dc/elements/1.1/"/>
    <ds:schemaRef ds:uri="http://www.w3.org/XML/1998/namespace"/>
    <ds:schemaRef ds:uri="http://purl.org/dc/terms/"/>
    <ds:schemaRef ds:uri="http://schemas.microsoft.com/office/2006/metadata/properties"/>
    <ds:schemaRef ds:uri="183b202c-ae80-4e15-8c69-6a1d999805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ce37a9d-ae0a-4fdd-8655-54933143681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8BB61EC-F26E-4C1E-B389-0F6EB507E6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87BFD4-A81D-4B15-8522-54C315E8E0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83b202c-ae80-4e15-8c69-6a1d9998050a"/>
    <ds:schemaRef ds:uri="8ce37a9d-ae0a-4fdd-8655-5493314368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デザインの設定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 啓人</dc:creator>
  <cp:lastModifiedBy>川崎 優</cp:lastModifiedBy>
  <cp:revision>6</cp:revision>
  <dcterms:created xsi:type="dcterms:W3CDTF">2025-01-07T03:42:06Z</dcterms:created>
  <dcterms:modified xsi:type="dcterms:W3CDTF">2026-07-16T04:53:35Z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0x0101008EC6ACA214567D47A6078E47D8ED1BBE</vt:lpwstr>
  </property>
  <property fmtid="{D5CDD505-2E9C-101B-9397-08002B2CF9AE}" pid="3" name="MediaServiceImageTags">
    <vt:lpwstr/>
  </property>
</Properties>
</file>