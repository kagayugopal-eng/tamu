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25"/>
  </p:notesMasterIdLst>
  <p:sldIdLst>
    <p:sldId id="256" r:id="rId5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2B2F4B-37FA-F442-99A4-0BBC95A3B399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C1D0C-C09E-5640-831D-BC9E2B99CE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616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3">
            <a:extLst>
              <a:ext uri="{FF2B5EF4-FFF2-40B4-BE49-F238E27FC236}">
                <a16:creationId xmlns:a16="http://schemas.microsoft.com/office/drawing/2014/main" id="{9AE60DE3-AE18-AAB2-F70F-7ADEB87EE36D}"/>
              </a:ext>
            </a:extLst>
          </p:cNvPr>
          <p:cNvGrpSpPr>
            <a:grpSpLocks noChangeAspect="1"/>
          </p:cNvGrpSpPr>
          <p:nvPr userDrawn="1"/>
        </p:nvGrpSpPr>
        <p:grpSpPr>
          <a:xfrm rot="-8232660">
            <a:off x="320529" y="-2447042"/>
            <a:ext cx="4818869" cy="6089491"/>
            <a:chOff x="0" y="0"/>
            <a:chExt cx="9637738" cy="12178982"/>
          </a:xfrm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6EAED067-7602-4A49-FB84-880DEE254FB9}"/>
                </a:ext>
              </a:extLst>
            </p:cNvPr>
            <p:cNvSpPr/>
            <p:nvPr/>
          </p:nvSpPr>
          <p:spPr>
            <a:xfrm>
              <a:off x="0" y="0"/>
              <a:ext cx="9637776" cy="12178919"/>
            </a:xfrm>
            <a:custGeom>
              <a:avLst/>
              <a:gdLst/>
              <a:ahLst/>
              <a:cxnLst/>
              <a:rect l="l" t="t" r="r" b="b"/>
              <a:pathLst>
                <a:path w="9637776" h="12178919">
                  <a:moveTo>
                    <a:pt x="9637776" y="3257804"/>
                  </a:moveTo>
                  <a:lnTo>
                    <a:pt x="6850126" y="246380"/>
                  </a:lnTo>
                  <a:lnTo>
                    <a:pt x="470281" y="0"/>
                  </a:lnTo>
                  <a:lnTo>
                    <a:pt x="0" y="12178919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3799" t="-390" r="-70796" b="-26255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2196AC1A-AE73-6289-5AD1-B1D2705E18A2}"/>
              </a:ext>
            </a:extLst>
          </p:cNvPr>
          <p:cNvGrpSpPr>
            <a:grpSpLocks noChangeAspect="1"/>
          </p:cNvGrpSpPr>
          <p:nvPr userDrawn="1"/>
        </p:nvGrpSpPr>
        <p:grpSpPr>
          <a:xfrm rot="8196480">
            <a:off x="-149288" y="3489154"/>
            <a:ext cx="3166510" cy="5162010"/>
            <a:chOff x="0" y="0"/>
            <a:chExt cx="6333020" cy="10324020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DD15C763-F531-386A-DB92-27FE7A14AFFA}"/>
                </a:ext>
              </a:extLst>
            </p:cNvPr>
            <p:cNvSpPr/>
            <p:nvPr/>
          </p:nvSpPr>
          <p:spPr>
            <a:xfrm>
              <a:off x="0" y="0"/>
              <a:ext cx="6332982" cy="10323957"/>
            </a:xfrm>
            <a:custGeom>
              <a:avLst/>
              <a:gdLst/>
              <a:ahLst/>
              <a:cxnLst/>
              <a:rect l="l" t="t" r="r" b="b"/>
              <a:pathLst>
                <a:path w="6332982" h="10323957">
                  <a:moveTo>
                    <a:pt x="289687" y="10323957"/>
                  </a:moveTo>
                  <a:lnTo>
                    <a:pt x="2286000" y="10267950"/>
                  </a:lnTo>
                  <a:lnTo>
                    <a:pt x="6332982" y="5987288"/>
                  </a:lnTo>
                  <a:lnTo>
                    <a:pt x="0" y="0"/>
                  </a:lnTo>
                  <a:lnTo>
                    <a:pt x="289687" y="10323957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306" t="-18469" r="-107653" b="-269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sp>
        <p:nvSpPr>
          <p:cNvPr id="11" name="AutoShape 7">
            <a:extLst>
              <a:ext uri="{FF2B5EF4-FFF2-40B4-BE49-F238E27FC236}">
                <a16:creationId xmlns:a16="http://schemas.microsoft.com/office/drawing/2014/main" id="{1F89C03A-5718-6F99-75B9-8E2A0661E491}"/>
              </a:ext>
            </a:extLst>
          </p:cNvPr>
          <p:cNvSpPr/>
          <p:nvPr userDrawn="1"/>
        </p:nvSpPr>
        <p:spPr>
          <a:xfrm>
            <a:off x="2283315" y="3912307"/>
            <a:ext cx="7625370" cy="0"/>
          </a:xfrm>
          <a:prstGeom prst="line">
            <a:avLst/>
          </a:prstGeom>
          <a:ln w="123825" cap="flat">
            <a:gradFill>
              <a:gsLst>
                <a:gs pos="0">
                  <a:srgbClr val="4460DF">
                    <a:alpha val="100000"/>
                  </a:srgbClr>
                </a:gs>
                <a:gs pos="33333">
                  <a:srgbClr val="55BECD">
                    <a:alpha val="95500"/>
                  </a:srgbClr>
                </a:gs>
                <a:gs pos="66667">
                  <a:srgbClr val="835F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22970FB3-78B9-6028-9919-1014E94084A2}"/>
              </a:ext>
            </a:extLst>
          </p:cNvPr>
          <p:cNvSpPr/>
          <p:nvPr userDrawn="1"/>
        </p:nvSpPr>
        <p:spPr>
          <a:xfrm>
            <a:off x="10532557" y="126598"/>
            <a:ext cx="1473200" cy="559202"/>
          </a:xfrm>
          <a:custGeom>
            <a:avLst/>
            <a:gdLst/>
            <a:ahLst/>
            <a:cxnLst/>
            <a:rect l="l" t="t" r="r" b="b"/>
            <a:pathLst>
              <a:path w="2209800" h="838803">
                <a:moveTo>
                  <a:pt x="0" y="0"/>
                </a:moveTo>
                <a:lnTo>
                  <a:pt x="2209800" y="0"/>
                </a:lnTo>
                <a:lnTo>
                  <a:pt x="2209800" y="838803"/>
                </a:lnTo>
                <a:lnTo>
                  <a:pt x="0" y="8388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C95E5D66-7A28-F4A4-4163-C3CF4CE8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522" y="3115390"/>
            <a:ext cx="7634958" cy="627221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0" name="テキスト プレースホルダー 2">
            <a:extLst>
              <a:ext uri="{FF2B5EF4-FFF2-40B4-BE49-F238E27FC236}">
                <a16:creationId xmlns:a16="http://schemas.microsoft.com/office/drawing/2014/main" id="{7505B7B6-E1A1-DFBC-2DB7-139E34163B4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566427" y="4099997"/>
            <a:ext cx="3342258" cy="104773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052E466-E5A2-FBA5-9B6A-50A0B73F79EF}"/>
              </a:ext>
            </a:extLst>
          </p:cNvPr>
          <p:cNvSpPr/>
          <p:nvPr userDrawn="1"/>
        </p:nvSpPr>
        <p:spPr>
          <a:xfrm>
            <a:off x="235712" y="254001"/>
            <a:ext cx="1198255" cy="43179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関係者秘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BD828F4A-6B69-2A0A-E3CE-78CCC5B6FBB4}"/>
              </a:ext>
            </a:extLst>
          </p:cNvPr>
          <p:cNvSpPr txBox="1"/>
          <p:nvPr userDrawn="1"/>
        </p:nvSpPr>
        <p:spPr>
          <a:xfrm>
            <a:off x="348672" y="6478842"/>
            <a:ext cx="1926578" cy="2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 Bold"/>
                <a:cs typeface="Noto Sans JP Bold"/>
                <a:sym typeface="Noto Sans JP Bold"/>
              </a:rPr>
              <a:t>Gopal Confidential</a:t>
            </a:r>
            <a:endParaRPr lang="en-US" sz="1400" b="0">
              <a:solidFill>
                <a:srgbClr val="545454"/>
              </a:solidFill>
              <a:latin typeface="Noto Sans JP"/>
              <a:ea typeface="Noto Sans JP Bold"/>
              <a:cs typeface="Noto Sans JP Bold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1297A563-B300-C6DE-8DA7-A770057CB88E}"/>
              </a:ext>
            </a:extLst>
          </p:cNvPr>
          <p:cNvSpPr txBox="1"/>
          <p:nvPr userDrawn="1"/>
        </p:nvSpPr>
        <p:spPr>
          <a:xfrm>
            <a:off x="7617986" y="6509398"/>
            <a:ext cx="3851120" cy="20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ⒸGopal Co., Ltd. 202</a:t>
            </a:r>
            <a:r>
              <a:rPr lang="en-US" altLang="ja-JP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. All rights reserved.</a:t>
            </a: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FDF57390-48BD-BAAD-57EF-53AA9C7CDECE}"/>
              </a:ext>
            </a:extLst>
          </p:cNvPr>
          <p:cNvSpPr txBox="1"/>
          <p:nvPr userDrawn="1"/>
        </p:nvSpPr>
        <p:spPr>
          <a:xfrm>
            <a:off x="11381459" y="6500889"/>
            <a:ext cx="461869" cy="21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fld id="{B6F15528-21DE-4FAA-801E-634DDDAF4B2B}" type="slidenum">
              <a:rPr lang="en-US" altLang="ja-JP" sz="1400" b="0" kern="1200" smtClean="0">
                <a:solidFill>
                  <a:srgbClr val="545454"/>
                </a:solidFill>
                <a:latin typeface="Noto Sans JP"/>
                <a:ea typeface="Noto Sans JP"/>
              </a:rPr>
              <a:pPr algn="r"/>
              <a:t>‹#›</a:t>
            </a:fld>
            <a:endParaRPr lang="en-US" altLang="ja-JP" sz="1400" b="0" kern="1200">
              <a:solidFill>
                <a:srgbClr val="545454"/>
              </a:solidFill>
              <a:latin typeface="Noto Sans JP"/>
              <a:ea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12215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2">
            <a:extLst>
              <a:ext uri="{FF2B5EF4-FFF2-40B4-BE49-F238E27FC236}">
                <a16:creationId xmlns:a16="http://schemas.microsoft.com/office/drawing/2014/main" id="{7B3356AD-D55D-9B2F-8F99-635D1BF00385}"/>
              </a:ext>
            </a:extLst>
          </p:cNvPr>
          <p:cNvGrpSpPr>
            <a:grpSpLocks noChangeAspect="1"/>
          </p:cNvGrpSpPr>
          <p:nvPr userDrawn="1"/>
        </p:nvGrpSpPr>
        <p:grpSpPr>
          <a:xfrm rot="-8232660">
            <a:off x="320529" y="-2447042"/>
            <a:ext cx="4818869" cy="6089491"/>
            <a:chOff x="0" y="0"/>
            <a:chExt cx="9637738" cy="12178982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BC7DD35B-0359-DDC1-3503-13B7F0A28D84}"/>
                </a:ext>
              </a:extLst>
            </p:cNvPr>
            <p:cNvSpPr/>
            <p:nvPr/>
          </p:nvSpPr>
          <p:spPr>
            <a:xfrm>
              <a:off x="0" y="0"/>
              <a:ext cx="9637776" cy="12178919"/>
            </a:xfrm>
            <a:custGeom>
              <a:avLst/>
              <a:gdLst/>
              <a:ahLst/>
              <a:cxnLst/>
              <a:rect l="l" t="t" r="r" b="b"/>
              <a:pathLst>
                <a:path w="9637776" h="12178919">
                  <a:moveTo>
                    <a:pt x="9637776" y="3257804"/>
                  </a:moveTo>
                  <a:lnTo>
                    <a:pt x="6850126" y="246380"/>
                  </a:lnTo>
                  <a:lnTo>
                    <a:pt x="470281" y="0"/>
                  </a:lnTo>
                  <a:lnTo>
                    <a:pt x="0" y="12178919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3799" t="-390" r="-70796" b="-26255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FB2EBD36-3F54-2C01-FF8F-1A33AF0A07B3}"/>
              </a:ext>
            </a:extLst>
          </p:cNvPr>
          <p:cNvGrpSpPr>
            <a:grpSpLocks noChangeAspect="1"/>
          </p:cNvGrpSpPr>
          <p:nvPr userDrawn="1"/>
        </p:nvGrpSpPr>
        <p:grpSpPr>
          <a:xfrm rot="8196480">
            <a:off x="-149288" y="3489154"/>
            <a:ext cx="3166510" cy="5162010"/>
            <a:chOff x="0" y="0"/>
            <a:chExt cx="6333020" cy="10324020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526C3D23-6CF7-CBE0-5446-4E2FA97EEA4B}"/>
                </a:ext>
              </a:extLst>
            </p:cNvPr>
            <p:cNvSpPr/>
            <p:nvPr/>
          </p:nvSpPr>
          <p:spPr>
            <a:xfrm>
              <a:off x="0" y="0"/>
              <a:ext cx="6332982" cy="10323957"/>
            </a:xfrm>
            <a:custGeom>
              <a:avLst/>
              <a:gdLst/>
              <a:ahLst/>
              <a:cxnLst/>
              <a:rect l="l" t="t" r="r" b="b"/>
              <a:pathLst>
                <a:path w="6332982" h="10323957">
                  <a:moveTo>
                    <a:pt x="289687" y="10323957"/>
                  </a:moveTo>
                  <a:lnTo>
                    <a:pt x="2286000" y="10267950"/>
                  </a:lnTo>
                  <a:lnTo>
                    <a:pt x="6332982" y="5987288"/>
                  </a:lnTo>
                  <a:lnTo>
                    <a:pt x="0" y="0"/>
                  </a:lnTo>
                  <a:lnTo>
                    <a:pt x="289687" y="10323957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306" t="-18469" r="-107653" b="-269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grpSp>
        <p:nvGrpSpPr>
          <p:cNvPr id="22" name="Group 6">
            <a:extLst>
              <a:ext uri="{FF2B5EF4-FFF2-40B4-BE49-F238E27FC236}">
                <a16:creationId xmlns:a16="http://schemas.microsoft.com/office/drawing/2014/main" id="{3A5456A3-E4CD-079B-984F-A71B316FF9E9}"/>
              </a:ext>
            </a:extLst>
          </p:cNvPr>
          <p:cNvGrpSpPr/>
          <p:nvPr userDrawn="1"/>
        </p:nvGrpSpPr>
        <p:grpSpPr>
          <a:xfrm>
            <a:off x="129533" y="112960"/>
            <a:ext cx="111699" cy="471240"/>
            <a:chOff x="0" y="0"/>
            <a:chExt cx="44128" cy="186169"/>
          </a:xfrm>
        </p:grpSpPr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DACBAE2-E83E-077A-C3BA-56BB950637E3}"/>
                </a:ext>
              </a:extLst>
            </p:cNvPr>
            <p:cNvSpPr/>
            <p:nvPr/>
          </p:nvSpPr>
          <p:spPr>
            <a:xfrm>
              <a:off x="0" y="0"/>
              <a:ext cx="44128" cy="186169"/>
            </a:xfrm>
            <a:custGeom>
              <a:avLst/>
              <a:gdLst/>
              <a:ahLst/>
              <a:cxnLst/>
              <a:rect l="l" t="t" r="r" b="b"/>
              <a:pathLst>
                <a:path w="44128" h="186169">
                  <a:moveTo>
                    <a:pt x="0" y="0"/>
                  </a:moveTo>
                  <a:lnTo>
                    <a:pt x="44128" y="0"/>
                  </a:lnTo>
                  <a:lnTo>
                    <a:pt x="44128" y="186169"/>
                  </a:lnTo>
                  <a:lnTo>
                    <a:pt x="0" y="186169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24" name="TextBox 8">
              <a:extLst>
                <a:ext uri="{FF2B5EF4-FFF2-40B4-BE49-F238E27FC236}">
                  <a16:creationId xmlns:a16="http://schemas.microsoft.com/office/drawing/2014/main" id="{C85CE811-6127-3120-C11D-1707DDB68A49}"/>
                </a:ext>
              </a:extLst>
            </p:cNvPr>
            <p:cNvSpPr txBox="1"/>
            <p:nvPr/>
          </p:nvSpPr>
          <p:spPr>
            <a:xfrm>
              <a:off x="0" y="-47625"/>
              <a:ext cx="44128" cy="233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5" name="AutoShape 9">
            <a:extLst>
              <a:ext uri="{FF2B5EF4-FFF2-40B4-BE49-F238E27FC236}">
                <a16:creationId xmlns:a16="http://schemas.microsoft.com/office/drawing/2014/main" id="{E6FF36D6-9C9F-8366-38C2-26B12772C7E1}"/>
              </a:ext>
            </a:extLst>
          </p:cNvPr>
          <p:cNvSpPr/>
          <p:nvPr userDrawn="1"/>
        </p:nvSpPr>
        <p:spPr>
          <a:xfrm>
            <a:off x="0" y="723900"/>
            <a:ext cx="12192000" cy="0"/>
          </a:xfrm>
          <a:prstGeom prst="line">
            <a:avLst/>
          </a:prstGeom>
          <a:ln w="47625" cap="flat">
            <a:gradFill>
              <a:gsLst>
                <a:gs pos="0">
                  <a:srgbClr val="4460DF">
                    <a:alpha val="100000"/>
                  </a:srgbClr>
                </a:gs>
                <a:gs pos="33333">
                  <a:srgbClr val="55BECD">
                    <a:alpha val="95500"/>
                  </a:srgbClr>
                </a:gs>
                <a:gs pos="66667">
                  <a:srgbClr val="835F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26" name="Freeform 10">
            <a:extLst>
              <a:ext uri="{FF2B5EF4-FFF2-40B4-BE49-F238E27FC236}">
                <a16:creationId xmlns:a16="http://schemas.microsoft.com/office/drawing/2014/main" id="{58538464-14BF-0206-1642-6A6E521D240D}"/>
              </a:ext>
            </a:extLst>
          </p:cNvPr>
          <p:cNvSpPr/>
          <p:nvPr userDrawn="1"/>
        </p:nvSpPr>
        <p:spPr>
          <a:xfrm>
            <a:off x="10797554" y="141825"/>
            <a:ext cx="1225089" cy="465023"/>
          </a:xfrm>
          <a:custGeom>
            <a:avLst/>
            <a:gdLst/>
            <a:ahLst/>
            <a:cxnLst/>
            <a:rect l="l" t="t" r="r" b="b"/>
            <a:pathLst>
              <a:path w="1837634" h="697535">
                <a:moveTo>
                  <a:pt x="0" y="0"/>
                </a:moveTo>
                <a:lnTo>
                  <a:pt x="1837634" y="0"/>
                </a:lnTo>
                <a:lnTo>
                  <a:pt x="1837634" y="697535"/>
                </a:lnTo>
                <a:lnTo>
                  <a:pt x="0" y="69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30" name="タイトル 1">
            <a:extLst>
              <a:ext uri="{FF2B5EF4-FFF2-40B4-BE49-F238E27FC236}">
                <a16:creationId xmlns:a16="http://schemas.microsoft.com/office/drawing/2014/main" id="{EBFC680D-F181-2CEA-5E26-E14ED5230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673" y="112960"/>
            <a:ext cx="10344727" cy="471240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1" name="テキスト プレースホルダー 2">
            <a:extLst>
              <a:ext uri="{FF2B5EF4-FFF2-40B4-BE49-F238E27FC236}">
                <a16:creationId xmlns:a16="http://schemas.microsoft.com/office/drawing/2014/main" id="{8C09861C-5295-F52A-1C2C-EEF8E4157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8672" y="855134"/>
            <a:ext cx="11494656" cy="5556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9DE11C5F-EE92-8048-1688-48A77E46BEC4}"/>
              </a:ext>
            </a:extLst>
          </p:cNvPr>
          <p:cNvSpPr txBox="1"/>
          <p:nvPr userDrawn="1"/>
        </p:nvSpPr>
        <p:spPr>
          <a:xfrm>
            <a:off x="348672" y="6478842"/>
            <a:ext cx="1926578" cy="2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 Bold"/>
                <a:cs typeface="Noto Sans JP Bold"/>
                <a:sym typeface="Noto Sans JP Bold"/>
              </a:rPr>
              <a:t>Gopal Confidential</a:t>
            </a:r>
            <a:endParaRPr lang="en-US" sz="1400" b="0">
              <a:solidFill>
                <a:srgbClr val="545454"/>
              </a:solidFill>
              <a:latin typeface="Noto Sans JP"/>
              <a:ea typeface="Noto Sans JP Bold"/>
              <a:cs typeface="Noto Sans JP Bold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370CEC26-D75C-C611-84B3-22C56F6BDD14}"/>
              </a:ext>
            </a:extLst>
          </p:cNvPr>
          <p:cNvSpPr txBox="1"/>
          <p:nvPr userDrawn="1"/>
        </p:nvSpPr>
        <p:spPr>
          <a:xfrm>
            <a:off x="7617986" y="6509398"/>
            <a:ext cx="3851120" cy="20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ⒸGopal Co., Ltd. 202</a:t>
            </a:r>
            <a:r>
              <a:rPr lang="en-US" altLang="ja-JP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. All rights reserved.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569DF34D-AF43-D844-BA50-8479BC93CF79}"/>
              </a:ext>
            </a:extLst>
          </p:cNvPr>
          <p:cNvSpPr txBox="1"/>
          <p:nvPr userDrawn="1"/>
        </p:nvSpPr>
        <p:spPr>
          <a:xfrm>
            <a:off x="11381459" y="6500889"/>
            <a:ext cx="461869" cy="21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fld id="{B6F15528-21DE-4FAA-801E-634DDDAF4B2B}" type="slidenum">
              <a:rPr lang="en-US" altLang="ja-JP" sz="1400" b="0" kern="1200" smtClean="0">
                <a:solidFill>
                  <a:srgbClr val="545454"/>
                </a:solidFill>
                <a:latin typeface="Noto Sans JP"/>
                <a:ea typeface="Noto Sans JP"/>
              </a:rPr>
              <a:pPr algn="r"/>
              <a:t>‹#›</a:t>
            </a:fld>
            <a:endParaRPr lang="en-US" altLang="ja-JP" sz="1400" b="0" kern="1200">
              <a:solidFill>
                <a:srgbClr val="545454"/>
              </a:solidFill>
              <a:latin typeface="Noto Sans JP"/>
              <a:ea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53077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E00B2FFB-046E-B2C5-1BC0-18983FF0FC26}"/>
              </a:ext>
            </a:extLst>
          </p:cNvPr>
          <p:cNvGrpSpPr/>
          <p:nvPr userDrawn="1"/>
        </p:nvGrpSpPr>
        <p:grpSpPr>
          <a:xfrm>
            <a:off x="1" y="1"/>
            <a:ext cx="12192000" cy="6858000"/>
            <a:chOff x="0" y="0"/>
            <a:chExt cx="4957720" cy="397671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98A4124F-444C-B07B-8C71-34F504A6EF4F}"/>
                </a:ext>
              </a:extLst>
            </p:cNvPr>
            <p:cNvSpPr/>
            <p:nvPr/>
          </p:nvSpPr>
          <p:spPr>
            <a:xfrm>
              <a:off x="0" y="0"/>
              <a:ext cx="4957720" cy="3976714"/>
            </a:xfrm>
            <a:custGeom>
              <a:avLst/>
              <a:gdLst/>
              <a:ahLst/>
              <a:cxnLst/>
              <a:rect l="l" t="t" r="r" b="b"/>
              <a:pathLst>
                <a:path w="4957720" h="3976714">
                  <a:moveTo>
                    <a:pt x="0" y="0"/>
                  </a:moveTo>
                  <a:lnTo>
                    <a:pt x="4957720" y="0"/>
                  </a:lnTo>
                  <a:lnTo>
                    <a:pt x="4957720" y="3976714"/>
                  </a:lnTo>
                  <a:lnTo>
                    <a:pt x="0" y="3976714"/>
                  </a:lnTo>
                  <a:close/>
                </a:path>
              </a:pathLst>
            </a:custGeom>
            <a:gradFill rotWithShape="1">
              <a:gsLst>
                <a:gs pos="0">
                  <a:srgbClr val="4460DF">
                    <a:alpha val="10000"/>
                  </a:srgbClr>
                </a:gs>
                <a:gs pos="33333">
                  <a:srgbClr val="55BECD">
                    <a:alpha val="9550"/>
                  </a:srgbClr>
                </a:gs>
                <a:gs pos="66667">
                  <a:srgbClr val="835FFF">
                    <a:alpha val="10000"/>
                  </a:srgbClr>
                </a:gs>
                <a:gs pos="100000">
                  <a:srgbClr val="FF66C4">
                    <a:alpha val="1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4D47CBF6-EFCA-52DA-B05C-B7D51380E448}"/>
                </a:ext>
              </a:extLst>
            </p:cNvPr>
            <p:cNvSpPr txBox="1"/>
            <p:nvPr/>
          </p:nvSpPr>
          <p:spPr>
            <a:xfrm>
              <a:off x="0" y="9525"/>
              <a:ext cx="4957720" cy="3967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50"/>
                </a:lnSpc>
              </a:pPr>
              <a:endParaRPr sz="1200"/>
            </a:p>
          </p:txBody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A133DE25-D836-8A96-0AC4-C05EFFC09FDB}"/>
              </a:ext>
            </a:extLst>
          </p:cNvPr>
          <p:cNvGrpSpPr>
            <a:grpSpLocks noChangeAspect="1"/>
          </p:cNvGrpSpPr>
          <p:nvPr userDrawn="1"/>
        </p:nvGrpSpPr>
        <p:grpSpPr>
          <a:xfrm rot="-8232660">
            <a:off x="496773" y="-2945600"/>
            <a:ext cx="5882069" cy="7122331"/>
            <a:chOff x="0" y="0"/>
            <a:chExt cx="11764137" cy="142446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5F80635-B023-2122-227A-614BA3C1036E}"/>
                </a:ext>
              </a:extLst>
            </p:cNvPr>
            <p:cNvSpPr/>
            <p:nvPr/>
          </p:nvSpPr>
          <p:spPr>
            <a:xfrm>
              <a:off x="0" y="0"/>
              <a:ext cx="11764137" cy="14244701"/>
            </a:xfrm>
            <a:custGeom>
              <a:avLst/>
              <a:gdLst/>
              <a:ahLst/>
              <a:cxnLst/>
              <a:rect l="l" t="t" r="r" b="b"/>
              <a:pathLst>
                <a:path w="11764137" h="14244701">
                  <a:moveTo>
                    <a:pt x="11764137" y="3355213"/>
                  </a:moveTo>
                  <a:lnTo>
                    <a:pt x="8958961" y="324739"/>
                  </a:lnTo>
                  <a:lnTo>
                    <a:pt x="550037" y="0"/>
                  </a:lnTo>
                  <a:lnTo>
                    <a:pt x="0" y="14244701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0627" t="-333" r="-40603" b="-7945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076AB430-91B9-5FB1-4FAF-7924E23DFBF6}"/>
              </a:ext>
            </a:extLst>
          </p:cNvPr>
          <p:cNvGrpSpPr>
            <a:grpSpLocks noChangeAspect="1"/>
          </p:cNvGrpSpPr>
          <p:nvPr userDrawn="1"/>
        </p:nvGrpSpPr>
        <p:grpSpPr>
          <a:xfrm rot="8196480">
            <a:off x="-149288" y="3489154"/>
            <a:ext cx="3166510" cy="5162010"/>
            <a:chOff x="0" y="0"/>
            <a:chExt cx="6333020" cy="10324020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182D6B9-5898-B8A5-DC51-85AA9691DCCA}"/>
                </a:ext>
              </a:extLst>
            </p:cNvPr>
            <p:cNvSpPr/>
            <p:nvPr/>
          </p:nvSpPr>
          <p:spPr>
            <a:xfrm>
              <a:off x="0" y="0"/>
              <a:ext cx="6332982" cy="10323957"/>
            </a:xfrm>
            <a:custGeom>
              <a:avLst/>
              <a:gdLst/>
              <a:ahLst/>
              <a:cxnLst/>
              <a:rect l="l" t="t" r="r" b="b"/>
              <a:pathLst>
                <a:path w="6332982" h="10323957">
                  <a:moveTo>
                    <a:pt x="289687" y="10323957"/>
                  </a:moveTo>
                  <a:lnTo>
                    <a:pt x="2286000" y="10267950"/>
                  </a:lnTo>
                  <a:lnTo>
                    <a:pt x="6332982" y="5987288"/>
                  </a:lnTo>
                  <a:lnTo>
                    <a:pt x="0" y="0"/>
                  </a:lnTo>
                  <a:lnTo>
                    <a:pt x="289687" y="10323957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306" t="-18469" r="-107653" b="-269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sp>
        <p:nvSpPr>
          <p:cNvPr id="13" name="Freeform 16">
            <a:extLst>
              <a:ext uri="{FF2B5EF4-FFF2-40B4-BE49-F238E27FC236}">
                <a16:creationId xmlns:a16="http://schemas.microsoft.com/office/drawing/2014/main" id="{18FFC105-2600-5EC1-0E26-9DFE95C39AB6}"/>
              </a:ext>
            </a:extLst>
          </p:cNvPr>
          <p:cNvSpPr/>
          <p:nvPr userDrawn="1"/>
        </p:nvSpPr>
        <p:spPr>
          <a:xfrm>
            <a:off x="9395204" y="232068"/>
            <a:ext cx="2812437" cy="6627039"/>
          </a:xfrm>
          <a:custGeom>
            <a:avLst/>
            <a:gdLst/>
            <a:ahLst/>
            <a:cxnLst/>
            <a:rect l="l" t="t" r="r" b="b"/>
            <a:pathLst>
              <a:path w="4218655" h="9940559">
                <a:moveTo>
                  <a:pt x="0" y="0"/>
                </a:moveTo>
                <a:lnTo>
                  <a:pt x="4218656" y="0"/>
                </a:lnTo>
                <a:lnTo>
                  <a:pt x="4218656" y="9940559"/>
                </a:lnTo>
                <a:lnTo>
                  <a:pt x="0" y="9940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2616"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649DAA33-1E27-7822-3D91-605BE00CCD0C}"/>
              </a:ext>
            </a:extLst>
          </p:cNvPr>
          <p:cNvSpPr/>
          <p:nvPr userDrawn="1"/>
        </p:nvSpPr>
        <p:spPr>
          <a:xfrm>
            <a:off x="10532557" y="126598"/>
            <a:ext cx="1473200" cy="559202"/>
          </a:xfrm>
          <a:custGeom>
            <a:avLst/>
            <a:gdLst/>
            <a:ahLst/>
            <a:cxnLst/>
            <a:rect l="l" t="t" r="r" b="b"/>
            <a:pathLst>
              <a:path w="2209800" h="838803">
                <a:moveTo>
                  <a:pt x="0" y="0"/>
                </a:moveTo>
                <a:lnTo>
                  <a:pt x="2209800" y="0"/>
                </a:lnTo>
                <a:lnTo>
                  <a:pt x="2209800" y="838803"/>
                </a:lnTo>
                <a:lnTo>
                  <a:pt x="0" y="838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15" name="Freeform 19">
            <a:extLst>
              <a:ext uri="{FF2B5EF4-FFF2-40B4-BE49-F238E27FC236}">
                <a16:creationId xmlns:a16="http://schemas.microsoft.com/office/drawing/2014/main" id="{A76073C2-FA84-0EAE-B028-4C4673E530EE}"/>
              </a:ext>
            </a:extLst>
          </p:cNvPr>
          <p:cNvSpPr/>
          <p:nvPr userDrawn="1"/>
        </p:nvSpPr>
        <p:spPr>
          <a:xfrm rot="5400000">
            <a:off x="7647097" y="2343514"/>
            <a:ext cx="2584968" cy="6503565"/>
          </a:xfrm>
          <a:custGeom>
            <a:avLst/>
            <a:gdLst/>
            <a:ahLst/>
            <a:cxnLst/>
            <a:rect l="l" t="t" r="r" b="b"/>
            <a:pathLst>
              <a:path w="3877452" h="9755348">
                <a:moveTo>
                  <a:pt x="0" y="0"/>
                </a:moveTo>
                <a:lnTo>
                  <a:pt x="3877452" y="0"/>
                </a:lnTo>
                <a:lnTo>
                  <a:pt x="3877452" y="9755348"/>
                </a:lnTo>
                <a:lnTo>
                  <a:pt x="0" y="9755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98" r="-33405"/>
            </a:stretch>
          </a:blipFill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16" name="Group 10">
            <a:extLst>
              <a:ext uri="{FF2B5EF4-FFF2-40B4-BE49-F238E27FC236}">
                <a16:creationId xmlns:a16="http://schemas.microsoft.com/office/drawing/2014/main" id="{7581738A-6C36-BD7B-89F1-16482126A9AD}"/>
              </a:ext>
            </a:extLst>
          </p:cNvPr>
          <p:cNvGrpSpPr/>
          <p:nvPr userDrawn="1"/>
        </p:nvGrpSpPr>
        <p:grpSpPr>
          <a:xfrm>
            <a:off x="32178" y="4339272"/>
            <a:ext cx="1730887" cy="1730887"/>
            <a:chOff x="0" y="0"/>
            <a:chExt cx="812800" cy="812800"/>
          </a:xfrm>
        </p:grpSpPr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D8776C52-571E-C7D0-382A-F1091B855C4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593C97DB-DAE5-8185-34BE-09114DAF6BF0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9" name="Freeform 7">
            <a:extLst>
              <a:ext uri="{FF2B5EF4-FFF2-40B4-BE49-F238E27FC236}">
                <a16:creationId xmlns:a16="http://schemas.microsoft.com/office/drawing/2014/main" id="{21D967B5-8296-273C-83D8-49AFE69CACB5}"/>
              </a:ext>
            </a:extLst>
          </p:cNvPr>
          <p:cNvSpPr/>
          <p:nvPr userDrawn="1"/>
        </p:nvSpPr>
        <p:spPr>
          <a:xfrm>
            <a:off x="290418" y="5008111"/>
            <a:ext cx="2287097" cy="1848642"/>
          </a:xfrm>
          <a:custGeom>
            <a:avLst/>
            <a:gdLst/>
            <a:ahLst/>
            <a:cxnLst/>
            <a:rect l="l" t="t" r="r" b="b"/>
            <a:pathLst>
              <a:path w="3430645" h="2772963">
                <a:moveTo>
                  <a:pt x="0" y="0"/>
                </a:moveTo>
                <a:lnTo>
                  <a:pt x="3430645" y="0"/>
                </a:lnTo>
                <a:lnTo>
                  <a:pt x="3430645" y="2772964"/>
                </a:lnTo>
                <a:lnTo>
                  <a:pt x="0" y="27729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23717"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23" name="タイトル 1">
            <a:extLst>
              <a:ext uri="{FF2B5EF4-FFF2-40B4-BE49-F238E27FC236}">
                <a16:creationId xmlns:a16="http://schemas.microsoft.com/office/drawing/2014/main" id="{79D9840A-65BA-D421-F952-282C4D11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774" y="3115390"/>
            <a:ext cx="8398454" cy="6272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187FBEF5-411A-9EC8-05B0-C44CF6F7B4B2}"/>
              </a:ext>
            </a:extLst>
          </p:cNvPr>
          <p:cNvSpPr txBox="1"/>
          <p:nvPr userDrawn="1"/>
        </p:nvSpPr>
        <p:spPr>
          <a:xfrm>
            <a:off x="348672" y="6478842"/>
            <a:ext cx="1926578" cy="2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 Bold"/>
                <a:cs typeface="Noto Sans JP Bold"/>
                <a:sym typeface="Noto Sans JP Bold"/>
              </a:rPr>
              <a:t>Gopal Confidential</a:t>
            </a:r>
            <a:endParaRPr lang="en-US" sz="1400" b="0">
              <a:solidFill>
                <a:srgbClr val="545454"/>
              </a:solidFill>
              <a:latin typeface="Noto Sans JP"/>
              <a:ea typeface="Noto Sans JP Bold"/>
              <a:cs typeface="Noto Sans JP Bold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3200DCEB-77AC-9728-AE62-E62E79AD7B4F}"/>
              </a:ext>
            </a:extLst>
          </p:cNvPr>
          <p:cNvSpPr txBox="1"/>
          <p:nvPr userDrawn="1"/>
        </p:nvSpPr>
        <p:spPr>
          <a:xfrm>
            <a:off x="7617986" y="6509398"/>
            <a:ext cx="3851120" cy="20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ⒸGopal Co., Ltd. 202</a:t>
            </a:r>
            <a:r>
              <a:rPr lang="en-US" altLang="ja-JP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. All rights reserved.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0A11723D-72FA-FD19-8469-B18D30214D40}"/>
              </a:ext>
            </a:extLst>
          </p:cNvPr>
          <p:cNvSpPr txBox="1"/>
          <p:nvPr userDrawn="1"/>
        </p:nvSpPr>
        <p:spPr>
          <a:xfrm>
            <a:off x="11381459" y="6500889"/>
            <a:ext cx="461869" cy="21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fld id="{B6F15528-21DE-4FAA-801E-634DDDAF4B2B}" type="slidenum">
              <a:rPr lang="en-US" altLang="ja-JP" sz="1400" b="0" kern="1200" smtClean="0">
                <a:solidFill>
                  <a:srgbClr val="545454"/>
                </a:solidFill>
                <a:latin typeface="Noto Sans JP"/>
                <a:ea typeface="Noto Sans JP"/>
              </a:rPr>
              <a:pPr algn="r"/>
              <a:t>‹#›</a:t>
            </a:fld>
            <a:endParaRPr lang="en-US" altLang="ja-JP" sz="1400" b="0" kern="1200">
              <a:solidFill>
                <a:srgbClr val="545454"/>
              </a:solidFill>
              <a:latin typeface="Noto Sans JP"/>
              <a:ea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128451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>
            <a:extLst>
              <a:ext uri="{FF2B5EF4-FFF2-40B4-BE49-F238E27FC236}">
                <a16:creationId xmlns:a16="http://schemas.microsoft.com/office/drawing/2014/main" id="{B847F6B2-8D52-045F-D872-092F50CB5FAA}"/>
              </a:ext>
            </a:extLst>
          </p:cNvPr>
          <p:cNvSpPr/>
          <p:nvPr userDrawn="1"/>
        </p:nvSpPr>
        <p:spPr>
          <a:xfrm>
            <a:off x="469964" y="530755"/>
            <a:ext cx="11252072" cy="5796491"/>
          </a:xfrm>
          <a:prstGeom prst="rect">
            <a:avLst/>
          </a:prstGeom>
          <a:gradFill rotWithShape="1">
            <a:gsLst>
              <a:gs pos="0">
                <a:srgbClr val="50B7F1">
                  <a:alpha val="47160"/>
                </a:srgbClr>
              </a:gs>
              <a:gs pos="25000">
                <a:srgbClr val="94B9FF">
                  <a:alpha val="37080"/>
                </a:srgbClr>
              </a:gs>
              <a:gs pos="50000">
                <a:srgbClr val="FFFFFF">
                  <a:alpha val="0"/>
                </a:srgbClr>
              </a:gs>
              <a:gs pos="75000">
                <a:srgbClr val="FF61D2">
                  <a:alpha val="24480"/>
                </a:srgbClr>
              </a:gs>
              <a:gs pos="100000">
                <a:srgbClr val="FFFFFF">
                  <a:alpha val="30600"/>
                </a:srgbClr>
              </a:gs>
            </a:gsLst>
            <a:lin ang="2700000"/>
          </a:gradFill>
          <a:ln cap="sq">
            <a:noFill/>
            <a:prstDash val="solid"/>
            <a:miter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18C9FA76-8303-4316-AB34-73BAECE60BE3}"/>
              </a:ext>
            </a:extLst>
          </p:cNvPr>
          <p:cNvSpPr txBox="1"/>
          <p:nvPr userDrawn="1"/>
        </p:nvSpPr>
        <p:spPr>
          <a:xfrm>
            <a:off x="4866660" y="4576918"/>
            <a:ext cx="2871572" cy="26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600" b="1" dirty="0">
                <a:solidFill>
                  <a:srgbClr val="00000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 </a:t>
            </a:r>
            <a:r>
              <a:rPr lang="en-US" sz="1600" b="1" dirty="0" err="1">
                <a:solidFill>
                  <a:srgbClr val="545454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良いサービスで物流に</a:t>
            </a:r>
            <a:r>
              <a:rPr lang="en-US" sz="1600" b="1" dirty="0" err="1">
                <a:solidFill>
                  <a:srgbClr val="FF5757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彩を</a:t>
            </a:r>
            <a:r>
              <a:rPr lang="en-US" sz="1600" b="1" dirty="0">
                <a:solidFill>
                  <a:srgbClr val="545454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。</a:t>
            </a:r>
          </a:p>
        </p:txBody>
      </p:sp>
      <p:sp>
        <p:nvSpPr>
          <p:cNvPr id="7" name="Freeform 7" descr="ロゴ, アイコン  自動的に生成された説明">
            <a:extLst>
              <a:ext uri="{FF2B5EF4-FFF2-40B4-BE49-F238E27FC236}">
                <a16:creationId xmlns:a16="http://schemas.microsoft.com/office/drawing/2014/main" id="{67EC9E67-3C16-B676-2FEF-4660D750C16E}"/>
              </a:ext>
            </a:extLst>
          </p:cNvPr>
          <p:cNvSpPr/>
          <p:nvPr userDrawn="1"/>
        </p:nvSpPr>
        <p:spPr>
          <a:xfrm>
            <a:off x="4013200" y="1968500"/>
            <a:ext cx="3835393" cy="1460500"/>
          </a:xfrm>
          <a:custGeom>
            <a:avLst/>
            <a:gdLst/>
            <a:ahLst/>
            <a:cxnLst/>
            <a:rect l="l" t="t" r="r" b="b"/>
            <a:pathLst>
              <a:path w="5753090" h="2190750">
                <a:moveTo>
                  <a:pt x="0" y="0"/>
                </a:moveTo>
                <a:lnTo>
                  <a:pt x="5753090" y="0"/>
                </a:lnTo>
                <a:lnTo>
                  <a:pt x="5753090" y="2190750"/>
                </a:lnTo>
                <a:lnTo>
                  <a:pt x="0" y="2190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250A23-9DD9-6799-E031-094B05017037}"/>
              </a:ext>
            </a:extLst>
          </p:cNvPr>
          <p:cNvSpPr txBox="1"/>
          <p:nvPr userDrawn="1"/>
        </p:nvSpPr>
        <p:spPr>
          <a:xfrm>
            <a:off x="4177221" y="3520278"/>
            <a:ext cx="3921685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0"/>
              </a:lnSpc>
            </a:pPr>
            <a:r>
              <a:rPr lang="en-US" sz="3333" b="1">
                <a:solidFill>
                  <a:srgbClr val="1E70C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Delivering good, </a:t>
            </a:r>
          </a:p>
          <a:p>
            <a:pPr algn="ctr">
              <a:lnSpc>
                <a:spcPts val="3930"/>
              </a:lnSpc>
              <a:spcBef>
                <a:spcPct val="0"/>
              </a:spcBef>
            </a:pPr>
            <a:r>
              <a:rPr lang="en-US" sz="3333" b="1">
                <a:solidFill>
                  <a:srgbClr val="1E70C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Coloring the scene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740EE4B5-B3BA-F650-F27B-5B4A0B613515}"/>
              </a:ext>
            </a:extLst>
          </p:cNvPr>
          <p:cNvSpPr txBox="1"/>
          <p:nvPr userDrawn="1"/>
        </p:nvSpPr>
        <p:spPr>
          <a:xfrm>
            <a:off x="348672" y="6478842"/>
            <a:ext cx="1926578" cy="2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 Bold"/>
                <a:cs typeface="Noto Sans JP Bold"/>
                <a:sym typeface="Noto Sans JP Bold"/>
              </a:rPr>
              <a:t>Gopal Confidential</a:t>
            </a:r>
            <a:endParaRPr lang="en-US" sz="1400" b="0">
              <a:solidFill>
                <a:srgbClr val="545454"/>
              </a:solidFill>
              <a:latin typeface="Noto Sans JP"/>
              <a:ea typeface="Noto Sans JP Bold"/>
              <a:cs typeface="Noto Sans JP Bold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60EC0883-F297-4581-76B4-E5ED89B81CAE}"/>
              </a:ext>
            </a:extLst>
          </p:cNvPr>
          <p:cNvSpPr txBox="1"/>
          <p:nvPr userDrawn="1"/>
        </p:nvSpPr>
        <p:spPr>
          <a:xfrm>
            <a:off x="7617986" y="6509398"/>
            <a:ext cx="3851120" cy="20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ⒸGopal Co., Ltd. 202</a:t>
            </a:r>
            <a:r>
              <a:rPr lang="en-US" altLang="ja-JP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. All rights reserved.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862E90C7-8AA3-E57B-84AA-DB481F3C0F30}"/>
              </a:ext>
            </a:extLst>
          </p:cNvPr>
          <p:cNvSpPr txBox="1"/>
          <p:nvPr userDrawn="1"/>
        </p:nvSpPr>
        <p:spPr>
          <a:xfrm>
            <a:off x="11381459" y="6500889"/>
            <a:ext cx="461869" cy="21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fld id="{B6F15528-21DE-4FAA-801E-634DDDAF4B2B}" type="slidenum">
              <a:rPr lang="en-US" altLang="ja-JP" sz="1400" b="0" kern="1200" smtClean="0">
                <a:solidFill>
                  <a:srgbClr val="545454"/>
                </a:solidFill>
                <a:latin typeface="Noto Sans JP"/>
                <a:ea typeface="Noto Sans JP"/>
              </a:rPr>
              <a:pPr algn="r"/>
              <a:t>‹#›</a:t>
            </a:fld>
            <a:endParaRPr lang="en-US" altLang="ja-JP" sz="1400" b="0" kern="1200">
              <a:solidFill>
                <a:srgbClr val="545454"/>
              </a:solidFill>
              <a:latin typeface="Noto Sans JP"/>
              <a:ea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31071262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28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kumimoji="1"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FB6BE"/>
                </a:solidFill>
                <a:latin typeface="Yu Gothic"/>
                <a:ea typeface="Yu Gothic"/>
              </a:rPr>
              <a:t>Gopal 登録チーム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058400" cy="21945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6400" b="1">
                <a:solidFill>
                  <a:srgbClr val="333333"/>
                </a:solidFill>
                <a:latin typeface="Yu Gothic"/>
                <a:ea typeface="Yu Gothic"/>
              </a:rPr>
              <a:t>採用〜登録フロー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0"/>
            <a:ext cx="100584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Yu Gothic"/>
                <a:ea typeface="Yu Gothic"/>
              </a:rPr>
              <a:t>詳細版 ｜ 契約書の氏名ルール・書類品質ルールを追加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採用〜登録 全体フロー（担当者別）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133856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Yu Gothic"/>
              </a:rPr>
              <a:t>「誰が」「どのツールで」「何を」やるかを一覧化。★は今回追加した重点チェックポイント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2788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45920"/>
            <a:ext cx="2788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採用チーム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29968"/>
            <a:ext cx="2788920" cy="3657600"/>
          </a:xfrm>
          <a:prstGeom prst="roundRect">
            <a:avLst>
              <a:gd name="adj" fmla="val 3000"/>
            </a:avLst>
          </a:prstGeom>
          <a:solidFill>
            <a:srgbClr val="E3F4F6"/>
          </a:solidFill>
          <a:ln w="9525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64408" y="1645920"/>
            <a:ext cx="2788920" cy="384048"/>
          </a:xfrm>
          <a:prstGeom prst="roundRect">
            <a:avLst>
              <a:gd name="adj" fmla="val 8000"/>
            </a:avLst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645920"/>
            <a:ext cx="2788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拠点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4408" y="2029968"/>
            <a:ext cx="2788920" cy="3657600"/>
          </a:xfrm>
          <a:prstGeom prst="roundRect">
            <a:avLst>
              <a:gd name="adj" fmla="val 3000"/>
            </a:avLst>
          </a:prstGeom>
          <a:solidFill>
            <a:srgbClr val="E8F1FB"/>
          </a:solidFill>
          <a:ln w="9525">
            <a:solidFill>
              <a:srgbClr val="12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17336" y="1645920"/>
            <a:ext cx="2788920" cy="384048"/>
          </a:xfrm>
          <a:prstGeom prst="roundRect">
            <a:avLst>
              <a:gd name="adj" fmla="val 8000"/>
            </a:avLst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7336" y="1645920"/>
            <a:ext cx="2788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登録チーム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2029968"/>
            <a:ext cx="2788920" cy="3657600"/>
          </a:xfrm>
          <a:prstGeom prst="roundRect">
            <a:avLst>
              <a:gd name="adj" fmla="val 3000"/>
            </a:avLst>
          </a:prstGeom>
          <a:solidFill>
            <a:srgbClr val="FDECF3"/>
          </a:solidFill>
          <a:ln w="9525">
            <a:solidFill>
              <a:srgbClr val="E12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70263" y="1645920"/>
            <a:ext cx="2788920" cy="384048"/>
          </a:xfrm>
          <a:prstGeom prst="roundRect">
            <a:avLst>
              <a:gd name="adj" fmla="val 8000"/>
            </a:avLst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0263" y="1645920"/>
            <a:ext cx="2788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ドライバー(DA)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3" y="2029968"/>
            <a:ext cx="2788920" cy="3657600"/>
          </a:xfrm>
          <a:prstGeom prst="roundRect">
            <a:avLst>
              <a:gd name="adj" fmla="val 3000"/>
            </a:avLst>
          </a:prstGeom>
          <a:solidFill>
            <a:srgbClr val="E8F5EC"/>
          </a:solidFill>
          <a:ln w="9525">
            <a:solidFill>
              <a:srgbClr val="4CA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121408"/>
            <a:ext cx="2606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2121408"/>
            <a:ext cx="566928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100" b="1">
                <a:solidFill>
                  <a:srgbClr val="4FB6BE"/>
                </a:solidFill>
                <a:latin typeface="Yu Gothic"/>
              </a:rPr>
              <a:t>①②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2121408"/>
            <a:ext cx="1920239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応募連絡・面接日決定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前日リマインド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5" y="2121408"/>
            <a:ext cx="2606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2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2121408"/>
            <a:ext cx="566928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100" b="1">
                <a:solidFill>
                  <a:srgbClr val="E12A82"/>
                </a:solidFill>
                <a:latin typeface="Yu Gothic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5703" y="2121408"/>
            <a:ext cx="1920239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DAフォルダ作成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面接前formsをPDF格納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1703" y="2121408"/>
            <a:ext cx="2606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CA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9991" y="2121408"/>
            <a:ext cx="566928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100" b="1">
                <a:solidFill>
                  <a:srgbClr val="4CAF6A"/>
                </a:solidFill>
                <a:latin typeface="Yu Gothic"/>
              </a:rPr>
              <a:t>①-2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8632" y="2121408"/>
            <a:ext cx="1920239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面接時formsに入力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(メール・氏名)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55848" y="2852928"/>
            <a:ext cx="2606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4136" y="2852928"/>
            <a:ext cx="566928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100" b="1">
                <a:solidFill>
                  <a:srgbClr val="126EC9"/>
                </a:solidFill>
                <a:latin typeface="Yu Gothic"/>
              </a:rPr>
              <a:t>④⑤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22776" y="2852928"/>
            <a:ext cx="1920239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面接実施（チェックシート）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合否＝拠点長が最終承認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55848" y="3584448"/>
            <a:ext cx="2606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74136" y="3584448"/>
            <a:ext cx="566928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100" b="1">
                <a:solidFill>
                  <a:srgbClr val="126EC9"/>
                </a:solidFill>
                <a:latin typeface="Yu Gothic"/>
              </a:rPr>
              <a:t>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22776" y="3584448"/>
            <a:ext cx="1920239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★クラウドサイン送付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登録時forms送付・書類回収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61703" y="3584448"/>
            <a:ext cx="2606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9991" y="3584448"/>
            <a:ext cx="566928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100" b="1">
                <a:solidFill>
                  <a:srgbClr val="4CAF6A"/>
                </a:solidFill>
                <a:latin typeface="Yu Gothic"/>
              </a:rPr>
              <a:t>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8632" y="3584448"/>
            <a:ext cx="1920239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★契約書に署名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★書類をPDF等で提出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55848" y="4315968"/>
            <a:ext cx="2606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74136" y="4315968"/>
            <a:ext cx="566928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100" b="1">
                <a:solidFill>
                  <a:srgbClr val="126EC9"/>
                </a:solidFill>
                <a:latin typeface="Yu Gothic"/>
              </a:rPr>
              <a:t>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2776" y="4315968"/>
            <a:ext cx="1920239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書類を拠点→DAフォルダへ格納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登録チームへTeams連絡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08775" y="4315968"/>
            <a:ext cx="2606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7064" y="4315968"/>
            <a:ext cx="566928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100" b="1">
                <a:solidFill>
                  <a:srgbClr val="E12A82"/>
                </a:solidFill>
                <a:latin typeface="Yu Gothic"/>
              </a:rPr>
              <a:t>⑦-4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75703" y="4315968"/>
            <a:ext cx="1920239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登録時formsを格納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★書類・氏名の最終確認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08775" y="5047488"/>
            <a:ext cx="2606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2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27064" y="5047488"/>
            <a:ext cx="566928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100" b="1">
                <a:solidFill>
                  <a:srgbClr val="E12A82"/>
                </a:solidFill>
                <a:latin typeface="Yu Gothic"/>
              </a:rPr>
              <a:t>⑧〜⑪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75703" y="5047488"/>
            <a:ext cx="1920239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Amazon登録案内→Disprz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→BGC→最終承認→完了連絡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61703" y="5047488"/>
            <a:ext cx="2606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CA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79991" y="5047488"/>
            <a:ext cx="566928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100" b="1">
                <a:solidFill>
                  <a:srgbClr val="4CAF6A"/>
                </a:solidFill>
                <a:latin typeface="Yu Gothic"/>
              </a:rPr>
              <a:t>⑧〜⑩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28632" y="5047488"/>
            <a:ext cx="1920239" cy="7132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Amazon登録・Disprz視聴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Background Check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5806440"/>
            <a:ext cx="11338560" cy="411480"/>
          </a:xfrm>
          <a:prstGeom prst="roundRect">
            <a:avLst>
              <a:gd name="adj" fmla="val 8000"/>
            </a:avLst>
          </a:prstGeom>
          <a:solidFill>
            <a:srgbClr val="E3F4F6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Yu Gothic"/>
              </a:rPr>
              <a:t>各ステップ完了後は必ず Teams で @登録チーム をメンション（拠点→登録チーム、登録チーム→拠点）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応募〜面接〜合否（①〜⑤）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17627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2176272" cy="9144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1993391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1">
                <a:solidFill>
                  <a:srgbClr val="4FB6BE"/>
                </a:solidFill>
                <a:latin typeface="Yu Gothic"/>
              </a:rPr>
              <a:t>STEP 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993391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Yu Gothic"/>
              </a:rPr>
              <a:t>採用チーム → 応募者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1993391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面接日時を決定して連絡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1993391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・応募者の連絡先（メール・電話）を確認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1993391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Yu Gothic"/>
              </a:rPr>
              <a:t>▶ ①-2 面接時formsのURLも同時送付:
forms.office.com/r/TCVgD3SbF1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325880"/>
            <a:ext cx="217627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325880"/>
            <a:ext cx="2176272" cy="9144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481328"/>
            <a:ext cx="1993391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1">
                <a:solidFill>
                  <a:srgbClr val="4FB6BE"/>
                </a:solidFill>
                <a:latin typeface="Yu Gothic"/>
              </a:rPr>
              <a:t>STEP 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755648"/>
            <a:ext cx="1993391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Yu Gothic"/>
              </a:rPr>
              <a:t>採用チーム → 応募者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103120"/>
            <a:ext cx="1993391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面接前日の確認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697480"/>
            <a:ext cx="1993391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・日時の再確認／formsの入力完了を確認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474720"/>
            <a:ext cx="1993391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Yu Gothic"/>
              </a:rPr>
              <a:t>▶ 未入力なら面接前までに再依頼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1325880"/>
            <a:ext cx="217627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83480" y="1325880"/>
            <a:ext cx="2176272" cy="9144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1481328"/>
            <a:ext cx="1993391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1">
                <a:solidFill>
                  <a:srgbClr val="4FB6BE"/>
                </a:solidFill>
                <a:latin typeface="Yu Gothic"/>
              </a:rPr>
              <a:t>STEP 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755648"/>
            <a:ext cx="1993391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Yu Gothic"/>
              </a:rPr>
              <a:t>登録チーム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103120"/>
            <a:ext cx="1993391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DAフォルダ作成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697480"/>
            <a:ext cx="1993391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・面接前にDA格納フォルダを作成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474720"/>
            <a:ext cx="1993391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Yu Gothic"/>
              </a:rPr>
              <a:t>▶ 面接前formsをPDFで格納→@拠点へTeams連絡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1325880"/>
            <a:ext cx="217627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1325880"/>
            <a:ext cx="2176272" cy="9144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1481328"/>
            <a:ext cx="1993391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1">
                <a:solidFill>
                  <a:srgbClr val="4FB6BE"/>
                </a:solidFill>
                <a:latin typeface="Yu Gothic"/>
              </a:rPr>
              <a:t>STEP 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1755648"/>
            <a:ext cx="1993391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Yu Gothic"/>
              </a:rPr>
              <a:t>拠点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2103120"/>
            <a:ext cx="1993391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面接実施（履歴書不要）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697480"/>
            <a:ext cx="1993391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・DAフォルダの面接前formsを見ながら実施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474720"/>
            <a:ext cx="1993391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Yu Gothic"/>
              </a:rPr>
              <a:t>▶ 面接チェックシートを使用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55480" y="1325880"/>
            <a:ext cx="217627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55480" y="1325880"/>
            <a:ext cx="2176272" cy="9144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19" y="1481328"/>
            <a:ext cx="1993391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1">
                <a:solidFill>
                  <a:srgbClr val="4FB6BE"/>
                </a:solidFill>
                <a:latin typeface="Yu Gothic"/>
              </a:rPr>
              <a:t>STEP 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19" y="1755648"/>
            <a:ext cx="1993391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Yu Gothic"/>
              </a:rPr>
              <a:t>拠点長（不在時エリアM）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19" y="2103120"/>
            <a:ext cx="1993391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面接合否の最終決定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19" y="2697480"/>
            <a:ext cx="1993391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・拠点→@採用チームへTeams連絡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19" y="3474720"/>
            <a:ext cx="1993391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Yu Gothic"/>
              </a:rPr>
              <a:t>▶ 承認者は拠点長のみ（不在時はエリアマネージャー）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4754880"/>
            <a:ext cx="11338560" cy="1051560"/>
          </a:xfrm>
          <a:prstGeom prst="roundRect">
            <a:avLst>
              <a:gd name="adj" fmla="val 8000"/>
            </a:avLst>
          </a:prstGeom>
          <a:solidFill>
            <a:srgbClr val="E3F4F6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800600"/>
            <a:ext cx="1106424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1">
                <a:solidFill>
                  <a:srgbClr val="4FB6BE"/>
                </a:solidFill>
                <a:latin typeface="Yu Gothic"/>
              </a:rPr>
              <a:t>このフェーズで必ず確認すること（氏名の入口）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・面接時formsの「氏名」は、後でクラウドサインの送付先名になる。DAには「免許証の券面どおりの漢字で入力」と案内する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・面接時に免許証を見られる場合は、ここで漢字（旧字体・異体字）を目視確認しておくと後工程の手戻りがなくなる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5897880"/>
            <a:ext cx="11338560" cy="36576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 w="12700">
            <a:solidFill>
              <a:srgbClr val="F29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1">
                <a:solidFill>
                  <a:srgbClr val="333333"/>
                </a:solidFill>
                <a:latin typeface="Yu Gothic"/>
              </a:rPr>
              <a:t>面接合否の最終承認は拠点長（不在時はエリアマネージャー）。合格後に初めてクラウドサインを送付する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採用決定後の対応（⑥）— 対面 / オンライン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577840" cy="3566160"/>
          </a:xfrm>
          <a:prstGeom prst="roundRect">
            <a:avLst>
              <a:gd name="adj" fmla="val 8000"/>
            </a:avLst>
          </a:prstGeom>
          <a:solidFill>
            <a:srgbClr val="E3F4F6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77840" cy="411480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5900"/>
            <a:ext cx="5577840" cy="20574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557784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対面の場合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10512"/>
            <a:ext cx="6400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1">
                <a:solidFill>
                  <a:srgbClr val="4FB6BE"/>
                </a:solidFill>
                <a:latin typeface="Yu Gothic"/>
              </a:rPr>
              <a:t>⑥-1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10512"/>
            <a:ext cx="466344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★免許証（表裏）で氏名を確認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84831"/>
            <a:ext cx="466344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Yu Gothic"/>
              </a:rPr>
              <a:t>面接時formsの氏名と免許証の漢字を照合してから次へ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6400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1">
                <a:solidFill>
                  <a:srgbClr val="4FB6BE"/>
                </a:solidFill>
                <a:latin typeface="Yu Gothic"/>
              </a:rPr>
              <a:t>⑥-2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60320"/>
            <a:ext cx="466344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クラウドサインを送付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34639"/>
            <a:ext cx="466344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Yu Gothic"/>
              </a:rPr>
              <a:t>送付先名＝免許証の漢字。エリア・単価等を事前入力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10128"/>
            <a:ext cx="6400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1">
                <a:solidFill>
                  <a:srgbClr val="4FB6BE"/>
                </a:solidFill>
                <a:latin typeface="Yu Gothic"/>
              </a:rPr>
              <a:t>⑥-3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10128"/>
            <a:ext cx="466344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登録時formsを送付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84448"/>
            <a:ext cx="466344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Yu Gothic"/>
              </a:rPr>
              <a:t>forms.office.com/r/DMxkaW0iaN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59935"/>
            <a:ext cx="6400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1">
                <a:solidFill>
                  <a:srgbClr val="4FB6BE"/>
                </a:solidFill>
                <a:latin typeface="Yu Gothic"/>
              </a:rPr>
              <a:t>⑥-4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059935"/>
            <a:ext cx="466344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必要書類を回収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34255"/>
            <a:ext cx="466344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Yu Gothic"/>
              </a:rPr>
              <a:t>免許証 裏表・顔写真・車両書類（書類は原則PDF）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280160"/>
            <a:ext cx="5577840" cy="3566160"/>
          </a:xfrm>
          <a:prstGeom prst="roundRect">
            <a:avLst>
              <a:gd name="adj" fmla="val 8000"/>
            </a:avLst>
          </a:prstGeom>
          <a:solidFill>
            <a:srgbClr val="FDECF3"/>
          </a:solidFill>
          <a:ln w="12700">
            <a:solidFill>
              <a:srgbClr val="E12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1280160"/>
            <a:ext cx="5577840" cy="411480"/>
          </a:xfrm>
          <a:prstGeom prst="roundRect">
            <a:avLst>
              <a:gd name="adj" fmla="val 8000"/>
            </a:avLst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485900"/>
            <a:ext cx="5577840" cy="205740"/>
          </a:xfrm>
          <a:prstGeom prst="rect">
            <a:avLst/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280160"/>
            <a:ext cx="557784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オンラインの場合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810512"/>
            <a:ext cx="6400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1">
                <a:solidFill>
                  <a:srgbClr val="E12A82"/>
                </a:solidFill>
                <a:latin typeface="Yu Gothic"/>
              </a:rPr>
              <a:t>⑥-1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810512"/>
            <a:ext cx="466344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案内メールを送付（拠点アドレス）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084831"/>
            <a:ext cx="466344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Yu Gothic"/>
              </a:rPr>
              <a:t>クラウドサイン・登録時forms送付予告／必要書類の添付依頼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560320"/>
            <a:ext cx="6400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1">
                <a:solidFill>
                  <a:srgbClr val="E12A82"/>
                </a:solidFill>
                <a:latin typeface="Yu Gothic"/>
              </a:rPr>
              <a:t>⑥-2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560320"/>
            <a:ext cx="466344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★免許証画像で氏名を確認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834639"/>
            <a:ext cx="466344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Yu Gothic"/>
              </a:rPr>
              <a:t>届いた免許証と面接時formsの氏名を照合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310128"/>
            <a:ext cx="6400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1">
                <a:solidFill>
                  <a:srgbClr val="E12A82"/>
                </a:solidFill>
                <a:latin typeface="Yu Gothic"/>
              </a:rPr>
              <a:t>⑥-3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310128"/>
            <a:ext cx="466344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クラウドサイン・登録時formsを送付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584448"/>
            <a:ext cx="466344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Yu Gothic"/>
              </a:rPr>
              <a:t>送付先名＝免許証の漢字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059935"/>
            <a:ext cx="6400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1">
                <a:solidFill>
                  <a:srgbClr val="E12A82"/>
                </a:solidFill>
                <a:latin typeface="Yu Gothic"/>
              </a:rPr>
              <a:t>⑥-4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059935"/>
            <a:ext cx="466344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必要書類をメールで収集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334255"/>
            <a:ext cx="466344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Yu Gothic"/>
              </a:rPr>
              <a:t>免許証・顔写真・車両書類／外国籍は在留カード・住民票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4983480"/>
            <a:ext cx="113385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010912"/>
            <a:ext cx="11064240" cy="8229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【必要書類（共通）】免許証（表・裏）／顔写真／車両書類　※バイカー・ウォーカーは保険証でも可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【外国籍】在留カード（就労制限なし／永住者を確認）・住民票　※氏名欄は免許証記載の名前を入力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5897880"/>
            <a:ext cx="11338560" cy="36576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 w="12700">
            <a:solidFill>
              <a:srgbClr val="F29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1">
                <a:solidFill>
                  <a:srgbClr val="333333"/>
                </a:solidFill>
                <a:latin typeface="Yu Gothic"/>
              </a:rPr>
              <a:t>⚠ ★＝順序変更の提案：現行は「クラウドサイン送付→書類回収」だが、1通200円のため免許証確認を送付前に行うのが安全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クラウドサインの署名ルール ― 氏名は必ず「免許証の券面どおりの漢字」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DECF3"/>
          </a:solidFill>
          <a:ln w="19050">
            <a:solidFill>
              <a:srgbClr val="E12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0972800" cy="7772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契約者のサイン（自署）・記名・送付先名は、すべて運転免許証に載っている漢字で統一する</a:t>
            </a:r>
          </a:p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戸籍上正しい／よく使う字ではなく、「免許証の券面」が唯一の正解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94560"/>
            <a:ext cx="5486400" cy="292608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12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219456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400300"/>
            <a:ext cx="5486400" cy="205740"/>
          </a:xfrm>
          <a:prstGeom prst="rect">
            <a:avLst/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194560"/>
            <a:ext cx="54864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適用される場所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97480"/>
            <a:ext cx="5212080" cy="23774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① 面接時formsの氏名 → 送付先名の元データ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② クラウドサイン送付先の「名前」（拠点が入力）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③ 1ページ目：ドライバーの名前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④ 8ページ目：ドライバーの名前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⑤ 宣誓書：名前①（自署）・名前②（記名）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⑥ 登録時forms（氏名・フリガナ）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※外国籍も同じ：氏名は免許証記載の名前（在留カードと表記が違う場合も免許証を優先）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94560"/>
            <a:ext cx="5577840" cy="29260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2194560"/>
            <a:ext cx="5577840" cy="411480"/>
          </a:xfrm>
          <a:prstGeom prst="roundRect">
            <a:avLst>
              <a:gd name="adj" fmla="val 8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400300"/>
            <a:ext cx="5577840" cy="20574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557784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NGになる例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97480"/>
            <a:ext cx="5303520" cy="23774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× 免許証は「齋藤」なのに「斎藤」「斉藤」で署名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× 免許証は「渡邉」なのに「渡辺」「渡部」と記名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× 免許証は「髙橋」なのに「高橋」と入力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× 免許証は「山﨑」なのに「山崎」と入力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× 自署と記名で字が異なる（宣誓書①と②）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× formsの氏名と送付先名が違う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→ 契約書の再送（再200円）・差し戻しの原因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25780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 w="12700">
            <a:solidFill>
              <a:srgbClr val="F29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50" b="1">
                <a:solidFill>
                  <a:srgbClr val="333333"/>
                </a:solidFill>
                <a:latin typeface="Yu Gothic"/>
              </a:rPr>
              <a:t>迷ったらDA本人に「免許証をそのまま写して書いてください」と伝える。自分の判断で字を直さない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806440"/>
            <a:ext cx="11338560" cy="41148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 w="12700">
            <a:solidFill>
              <a:srgbClr val="F29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Yu Gothic"/>
              </a:rPr>
              <a:t>クラウドサインは1通200円。送信後に氏名ミスが分かると再送が必要 → 送信前の照合が最重要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よくある氏名の漢字間違い（異体字・旧字体）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07008"/>
            <a:ext cx="1133856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Yu Gothic"/>
              </a:rPr>
              <a:t>免許証の字がどれかを一画ずつ確認。ほかの表記は全てNG（一覧にない姓も同様に確認）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1051560" cy="310896"/>
          </a:xfrm>
          <a:prstGeom prst="rect">
            <a:avLst/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1051560" cy="31089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免許証の表記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39" y="1508760"/>
            <a:ext cx="2011680" cy="310896"/>
          </a:xfrm>
          <a:prstGeom prst="rect">
            <a:avLst/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39" y="1508760"/>
            <a:ext cx="2011680" cy="31089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間違えやすい表記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508760"/>
            <a:ext cx="2560320" cy="310896"/>
          </a:xfrm>
          <a:prstGeom prst="rect">
            <a:avLst/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2560320" cy="31089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ポイント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19656"/>
            <a:ext cx="105156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819656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齋藤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39" y="1819656"/>
            <a:ext cx="201168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39" y="1819656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斎藤 ／ 斉藤 ／ 齊藤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19656"/>
            <a:ext cx="256032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819656"/>
            <a:ext cx="256032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「齋」「齊」「斎」「斉」はすべて別字扱い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167128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167128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渡邉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39" y="216712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39" y="2167128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渡辺 ／ 渡邊 ／ 渡部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2167128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167128"/>
            <a:ext cx="256032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辺の旧字（邉・邊）が多数。「部」は別姓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514600"/>
            <a:ext cx="105156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514600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髙橋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39" y="2514600"/>
            <a:ext cx="201168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39" y="2514600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高橋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2514600"/>
            <a:ext cx="256032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2514600"/>
            <a:ext cx="256032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「はしごだか」。入力時に普通の「高」に変換されがち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862072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862072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山﨑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39" y="2862072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39" y="2862072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山崎 ／ 山嵜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2862072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2862072"/>
            <a:ext cx="256032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「たつさき」。PC環境で崎に置換されやすい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209544"/>
            <a:ext cx="105156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209544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澤田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39" y="3209544"/>
            <a:ext cx="201168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39" y="3209544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沢田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3209544"/>
            <a:ext cx="256032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3209544"/>
            <a:ext cx="256032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旧字「澤」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557015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3557015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濱田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63039" y="3557015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63039" y="3557015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浜田 ／ 濵田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557015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0" y="3557015"/>
            <a:ext cx="256032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濱・浜・濵の3種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904488"/>
            <a:ext cx="105156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3904488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嶋田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63039" y="3904488"/>
            <a:ext cx="201168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63039" y="3904488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島田 ／ 嶌田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0" y="3904488"/>
            <a:ext cx="256032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0" y="3904488"/>
            <a:ext cx="256032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嶋・島・嶌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251960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251960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廣瀬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63039" y="4251960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63039" y="4251960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広瀬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0" y="4251960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0" y="4251960"/>
            <a:ext cx="256032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旧字「廣」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4599432"/>
            <a:ext cx="105156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4599432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櫻井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63039" y="4599432"/>
            <a:ext cx="201168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63039" y="4599432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桜井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74720" y="4599432"/>
            <a:ext cx="256032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74720" y="4599432"/>
            <a:ext cx="256032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旧字「櫻」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4946904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4946904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冨山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63039" y="494690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39" y="4946904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富山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74720" y="4946904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74720" y="4946904"/>
            <a:ext cx="256032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「冨」はウ冠の点がない字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2200" y="1508760"/>
            <a:ext cx="1051560" cy="310896"/>
          </a:xfrm>
          <a:prstGeom prst="rect">
            <a:avLst/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72200" y="1508760"/>
            <a:ext cx="1051560" cy="31089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免許証の表記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23760" y="1508760"/>
            <a:ext cx="2011680" cy="310896"/>
          </a:xfrm>
          <a:prstGeom prst="rect">
            <a:avLst/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23760" y="1508760"/>
            <a:ext cx="2011680" cy="31089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間違えやすい表記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35440" y="1508760"/>
            <a:ext cx="2514599" cy="310896"/>
          </a:xfrm>
          <a:prstGeom prst="rect">
            <a:avLst/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35440" y="1508760"/>
            <a:ext cx="2514599" cy="31089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ポイント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1819656"/>
            <a:ext cx="105156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72200" y="1819656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德永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223760" y="1819656"/>
            <a:ext cx="201168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223760" y="1819656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徳永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235440" y="1819656"/>
            <a:ext cx="2514599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35440" y="1819656"/>
            <a:ext cx="2514599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旧字「德」（心の上の横線）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72200" y="2167128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72200" y="2167128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栁田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23760" y="216712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223760" y="2167128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柳田 ／ 楊田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235440" y="2167128"/>
            <a:ext cx="2514599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35440" y="2167128"/>
            <a:ext cx="2514599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木＋夘の旧字「栁」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72200" y="2514600"/>
            <a:ext cx="105156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72200" y="2514600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龍(竜)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23760" y="2514600"/>
            <a:ext cx="201168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223760" y="2514600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龍 ／ 竜 ／ 瀧 ／ 滝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35440" y="2514600"/>
            <a:ext cx="2514599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35440" y="2514600"/>
            <a:ext cx="2514599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龍田・竜田・瀧・滝など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72200" y="2862072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72200" y="2862072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實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23760" y="2862072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223760" y="2862072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実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35440" y="2862072"/>
            <a:ext cx="2514599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235440" y="2862072"/>
            <a:ext cx="2514599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名前に多い（實・實）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72200" y="3209544"/>
            <a:ext cx="105156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72200" y="3209544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惠 ／ 榮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223760" y="3209544"/>
            <a:ext cx="201168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223760" y="3209544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恵 ／ 栄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235440" y="3209544"/>
            <a:ext cx="2514599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235440" y="3209544"/>
            <a:ext cx="2514599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名前の旧字体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72200" y="3557015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72200" y="3557015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眞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223760" y="3557015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223760" y="3557015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真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235440" y="3557015"/>
            <a:ext cx="2514599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235440" y="3557015"/>
            <a:ext cx="2514599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名前に多い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72200" y="3904488"/>
            <a:ext cx="105156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72200" y="3904488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辻(二点)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223760" y="3904488"/>
            <a:ext cx="201168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223760" y="3904488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辻(一点)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235440" y="3904488"/>
            <a:ext cx="2514599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35440" y="3904488"/>
            <a:ext cx="2514599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しんにょうの点の数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72200" y="4251960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72200" y="4251960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桧／檜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223760" y="4251960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223760" y="4251960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桧 ／ 檜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235440" y="4251960"/>
            <a:ext cx="2514599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235440" y="4251960"/>
            <a:ext cx="2514599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どちらが券面かを確認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72200" y="4599432"/>
            <a:ext cx="105156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72200" y="4599432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淵 ／ 渕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223760" y="4599432"/>
            <a:ext cx="2011680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223760" y="4599432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淵 ／ 渕 ／ 渊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235440" y="4599432"/>
            <a:ext cx="2514599" cy="34747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235440" y="4599432"/>
            <a:ext cx="2514599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3種の混在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72200" y="4946904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72200" y="4946904"/>
            <a:ext cx="105156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增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223760" y="494690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223760" y="4946904"/>
            <a:ext cx="2011680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0">
                <a:solidFill>
                  <a:srgbClr val="D32F2F"/>
                </a:solidFill>
                <a:latin typeface="Yu Gothic"/>
              </a:rPr>
              <a:t>増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235440" y="4946904"/>
            <a:ext cx="2514599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235440" y="4946904"/>
            <a:ext cx="2514599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つちへん・旧字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172200" y="5486400"/>
            <a:ext cx="5577840" cy="6858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12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309360" y="5486400"/>
            <a:ext cx="5303520" cy="6858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Yu Gothic"/>
              </a:rPr>
              <a:t>💡 特殊な字（𠮷・﨑・髙 等）は、入力するとPC側で別字に自動変換されることがある。変換後の文字を必ず再確認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11480" y="5486400"/>
            <a:ext cx="5623560" cy="64008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 w="12700">
            <a:solidFill>
              <a:srgbClr val="F29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8640" y="5486400"/>
            <a:ext cx="534924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1">
                <a:solidFill>
                  <a:srgbClr val="333333"/>
                </a:solidFill>
                <a:latin typeface="Yu Gothic"/>
              </a:rPr>
              <a:t>この表以外の姓・名も同様。「普通の字」だと思い込まず免許証と見比べる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氏名チェックの手順 ― 3段階で確認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E3F4F6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657600" cy="411480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31620"/>
            <a:ext cx="3657600" cy="20574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36576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① 入力前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338328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✓ 免許証（表）の氏名を目視で確認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338328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✓ 面接時formsの氏名と照合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79"/>
            <a:ext cx="338328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✓ 違う字はDA本人に確認し、免許証に合わせる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59"/>
            <a:ext cx="338328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✓ 外国籍：免許証記載の名前を採用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1" y="2651760"/>
            <a:ext cx="27432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Yu Gothic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2588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12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1325880"/>
            <a:ext cx="3657600" cy="411480"/>
          </a:xfrm>
          <a:prstGeom prst="roundRect">
            <a:avLst>
              <a:gd name="adj" fmla="val 8000"/>
            </a:avLst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531620"/>
            <a:ext cx="3657600" cy="205740"/>
          </a:xfrm>
          <a:prstGeom prst="rect">
            <a:avLst/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1325880"/>
            <a:ext cx="36576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② 送信前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874519"/>
            <a:ext cx="338328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✓ 送付先の「名前」を免許証と1字ずつ照合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514600"/>
            <a:ext cx="338328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✓ メールアドレスの誤字も同時に確認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154679"/>
            <a:ext cx="338328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✓ ダブルチェック（別の担当者）を推奨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794759"/>
            <a:ext cx="338328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✓ OKなら「送信する」（1通200円）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2651760"/>
            <a:ext cx="27432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Yu Gothic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32588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DECF3"/>
          </a:solidFill>
          <a:ln w="12700">
            <a:solidFill>
              <a:srgbClr val="E12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92440" y="1325880"/>
            <a:ext cx="3657600" cy="411480"/>
          </a:xfrm>
          <a:prstGeom prst="roundRect">
            <a:avLst>
              <a:gd name="adj" fmla="val 8000"/>
            </a:avLst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1531620"/>
            <a:ext cx="3657600" cy="205740"/>
          </a:xfrm>
          <a:prstGeom prst="rect">
            <a:avLst/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1325880"/>
            <a:ext cx="36576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③ 署名後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874519"/>
            <a:ext cx="338328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✓ 1ページ目・8ページ目の氏名を確認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514600"/>
            <a:ext cx="338328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✓ 宣誓書の自署①と記名②が同じ字か確認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154679"/>
            <a:ext cx="338328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✓ 免許証の氏名と一致するか最終確認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794759"/>
            <a:ext cx="338328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Yu Gothic"/>
              </a:rPr>
              <a:t>✓ 不一致→差し戻し／再送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663440"/>
            <a:ext cx="113385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681728"/>
            <a:ext cx="1106424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1">
                <a:solidFill>
                  <a:srgbClr val="D32F2F"/>
                </a:solidFill>
                <a:latin typeface="Yu Gothic"/>
              </a:rPr>
              <a:t>不一致が見つかったときの対応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983480"/>
            <a:ext cx="11064240" cy="7315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・送信前に発見 → 修正して送信（費用なし）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・署名後に発見 → クラウドサインを再送（再200円）。拠点から @登録チーム へ Teams で連絡のうえ、旧契約書は無効扱いとして格納しない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5852160"/>
            <a:ext cx="11338560" cy="384048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 w="12700">
            <a:solidFill>
              <a:srgbClr val="F29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852160"/>
            <a:ext cx="110642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Yu Gothic"/>
              </a:rPr>
              <a:t>「送信前の免許証照合」が最も安く確実な防止策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必要書類 ― 提出形式のルール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11338560" cy="64008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9050">
            <a:solidFill>
              <a:srgbClr val="12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必要書類は「顔写真」と「必要書類チェックシート」以外は、すべてPDFで提出・格納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103120"/>
            <a:ext cx="3566160" cy="329184"/>
          </a:xfrm>
          <a:prstGeom prst="rect">
            <a:avLst/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3566160" cy="329184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Yu Gothic"/>
              </a:rPr>
              <a:t>書類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2103120"/>
            <a:ext cx="1645920" cy="329184"/>
          </a:xfrm>
          <a:prstGeom prst="rect">
            <a:avLst/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2103120"/>
            <a:ext cx="1645920" cy="329184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Yu Gothic"/>
              </a:rPr>
              <a:t>形式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59" y="2103120"/>
            <a:ext cx="6126480" cy="329184"/>
          </a:xfrm>
          <a:prstGeom prst="rect">
            <a:avLst/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59" y="2103120"/>
            <a:ext cx="6126480" cy="329184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Yu Gothic"/>
              </a:rPr>
              <a:t>備考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32303"/>
            <a:ext cx="356616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432303"/>
            <a:ext cx="356616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免許証（表・裏）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7639" y="2432303"/>
            <a:ext cx="164592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2432303"/>
            <a:ext cx="164592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1">
                <a:solidFill>
                  <a:srgbClr val="126EC9"/>
                </a:solidFill>
                <a:latin typeface="Yu Gothic"/>
              </a:rPr>
              <a:t>PDF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59" y="2432303"/>
            <a:ext cx="612648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59" y="2432303"/>
            <a:ext cx="61264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表・裏を1ファイルにまとめてもOK。文字が読めること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798063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798063"/>
            <a:ext cx="356616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車両書類（車検証・任意保険等）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7639" y="2798063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2798063"/>
            <a:ext cx="164592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1">
                <a:solidFill>
                  <a:srgbClr val="126EC9"/>
                </a:solidFill>
                <a:latin typeface="Yu Gothic"/>
              </a:rPr>
              <a:t>PDF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59" y="2798063"/>
            <a:ext cx="6126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59" y="2798063"/>
            <a:ext cx="61264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全項目が読み取れること／期限内のもの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163824"/>
            <a:ext cx="356616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163824"/>
            <a:ext cx="356616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保険証（バイカー・ウォーカーのみ）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77639" y="3163824"/>
            <a:ext cx="164592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39" y="3163824"/>
            <a:ext cx="164592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1">
                <a:solidFill>
                  <a:srgbClr val="126EC9"/>
                </a:solidFill>
                <a:latin typeface="Yu Gothic"/>
              </a:rPr>
              <a:t>PDF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59" y="3163824"/>
            <a:ext cx="612648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59" y="3163824"/>
            <a:ext cx="61264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記号・番号の取り扱いに注意（マスキング可否は運用確認）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529584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529584"/>
            <a:ext cx="356616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在留カード・住民票（外国籍）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7639" y="3529584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39" y="3529584"/>
            <a:ext cx="164592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1">
                <a:solidFill>
                  <a:srgbClr val="126EC9"/>
                </a:solidFill>
                <a:latin typeface="Yu Gothic"/>
              </a:rPr>
              <a:t>PDF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59" y="3529584"/>
            <a:ext cx="6126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59" y="3529584"/>
            <a:ext cx="61264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在留カードは表裏／就労制限なし・永住者を確認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895344"/>
            <a:ext cx="356616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895344"/>
            <a:ext cx="356616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クラウドサイン契約書（締結済み）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77639" y="3895344"/>
            <a:ext cx="164592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77639" y="3895344"/>
            <a:ext cx="164592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1">
                <a:solidFill>
                  <a:srgbClr val="126EC9"/>
                </a:solidFill>
                <a:latin typeface="Yu Gothic"/>
              </a:rPr>
              <a:t>PDF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3559" y="3895344"/>
            <a:ext cx="612648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59" y="3895344"/>
            <a:ext cx="61264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クラウドサインからダウンロードしたもの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261104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261104"/>
            <a:ext cx="356616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登録時forms（控え）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7639" y="4261104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77639" y="4261104"/>
            <a:ext cx="164592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1">
                <a:solidFill>
                  <a:srgbClr val="126EC9"/>
                </a:solidFill>
                <a:latin typeface="Yu Gothic"/>
              </a:rPr>
              <a:t>PDF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23559" y="4261104"/>
            <a:ext cx="6126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59" y="4261104"/>
            <a:ext cx="61264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登録チームが格納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626864"/>
            <a:ext cx="3566160" cy="36576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4626864"/>
            <a:ext cx="356616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顔写真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77639" y="4626864"/>
            <a:ext cx="1645920" cy="36576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77639" y="4626864"/>
            <a:ext cx="164592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1">
                <a:solidFill>
                  <a:srgbClr val="F29A3C"/>
                </a:solidFill>
                <a:latin typeface="Yu Gothic"/>
              </a:rPr>
              <a:t>画像（JPG等）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23559" y="4626864"/>
            <a:ext cx="6126480" cy="36576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23559" y="4626864"/>
            <a:ext cx="61264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PDF化不要。ピント・明るさ・正面を確認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4992624"/>
            <a:ext cx="3566160" cy="36576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4992624"/>
            <a:ext cx="356616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必要書類チェックシート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77639" y="4992624"/>
            <a:ext cx="1645920" cy="36576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77639" y="4992624"/>
            <a:ext cx="164592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50" b="1">
                <a:solidFill>
                  <a:srgbClr val="F29A3C"/>
                </a:solidFill>
                <a:latin typeface="Yu Gothic"/>
              </a:rPr>
              <a:t>元の形式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59" y="4992624"/>
            <a:ext cx="6126480" cy="36576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23559" y="4992624"/>
            <a:ext cx="61264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PDF化不要（※下の注意参照）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553212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 w="12700">
            <a:solidFill>
              <a:srgbClr val="F29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50" b="1">
                <a:solidFill>
                  <a:srgbClr val="333333"/>
                </a:solidFill>
                <a:latin typeface="Yu Gothic"/>
              </a:rPr>
              <a:t>⚠ 現行マニュアルは「チェック表をPDF化して格納（7-3）」と記載 → 今回のルールと食い違うため、運用確認のうえ統一が必要。スマホ写真をそのまま貼らず、PDFに変換して提出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書類の画質ルール ― ぼやけた写真はNG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 w="12700">
            <a:solidFill>
              <a:srgbClr val="4CA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77840" cy="411480"/>
          </a:xfrm>
          <a:prstGeom prst="roundRect">
            <a:avLst>
              <a:gd name="adj" fmla="val 8000"/>
            </a:avLst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5900"/>
            <a:ext cx="5577840" cy="20574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557784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✅ OKの基準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303520" cy="2651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・氏名・生年月日・住所・有効期限が拡大せずに読める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・四隅がすべて写っている（見切れなし）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・ピントが合っている／手ブレなし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・照明の反射・影で文字が隠れていない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・免許証は表・裏ともに撮影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・向きが正しい（横向き・逆さのまま提出しない）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・PDFとして開けてページ数に過不足がない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8016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5577840" cy="411480"/>
          </a:xfrm>
          <a:prstGeom prst="roundRect">
            <a:avLst>
              <a:gd name="adj" fmla="val 8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85900"/>
            <a:ext cx="5577840" cy="20574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280160"/>
            <a:ext cx="557784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❌ NGの例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83080"/>
            <a:ext cx="5303520" cy="2651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・写真がぼやけていて文字が判読できない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・暗い／明るすぎる／蛍光灯の反射で一部が見えない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・端が切れている／指が写り込んでいる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・画像を縮小しすぎて小さい（低解像度）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・コピーのコピー・斜めすぎる撮影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・免許証の表だけ（裏がない）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Yu Gothic"/>
              </a:rPr>
              <a:t>・写真(JPG/HEIC)のまま提出（PDF指定の書類）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1772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12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" y="4617720"/>
            <a:ext cx="11338560" cy="365760"/>
          </a:xfrm>
          <a:prstGeom prst="roundRect">
            <a:avLst>
              <a:gd name="adj" fmla="val 8000"/>
            </a:avLst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800600"/>
            <a:ext cx="11338560" cy="182880"/>
          </a:xfrm>
          <a:prstGeom prst="rect">
            <a:avLst/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617720"/>
            <a:ext cx="1133856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撮影・スキャンのコツ ／ NGだった場合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5486400" cy="11430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・無地の暗い机に置き、真上から撮影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・影が入らない明るい場所（直射日光・反射NG）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・ピント合わせ後に撮る／スキャンアプリを活用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029200"/>
            <a:ext cx="5486400" cy="11430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・格納済みの書類がNG → 拠点がDAへ再提出を依頼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・差し替え後、@登録チームへ再格納をTeams連絡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・NG書類のファイルは残さず差し替える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書類格納〜登録完了（⑦〜⑪）と格納前チェック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577840" cy="3383280"/>
          </a:xfrm>
          <a:prstGeom prst="roundRect">
            <a:avLst>
              <a:gd name="adj" fmla="val 8000"/>
            </a:avLst>
          </a:prstGeom>
          <a:solidFill>
            <a:srgbClr val="E3F4F6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77840" cy="411480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5900"/>
            <a:ext cx="5577840" cy="20574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557784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⑦ 拠点のDAフォルダへ格納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1">
                <a:solidFill>
                  <a:srgbClr val="4FB6BE"/>
                </a:solidFill>
                <a:latin typeface="Yu Gothic"/>
              </a:rPr>
              <a:t>7-1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28800"/>
            <a:ext cx="475488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Yu Gothic"/>
              </a:rPr>
              <a:t>クラウドサイン（締結済みPDF）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95728"/>
            <a:ext cx="54864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1">
                <a:solidFill>
                  <a:srgbClr val="4FB6BE"/>
                </a:solidFill>
                <a:latin typeface="Yu Gothic"/>
              </a:rPr>
              <a:t>7-2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95728"/>
            <a:ext cx="475488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Yu Gothic"/>
              </a:rPr>
              <a:t>必要書類（免許証・車両書類＝PDF／顔写真）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62656"/>
            <a:ext cx="54864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1">
                <a:solidFill>
                  <a:srgbClr val="4FB6BE"/>
                </a:solidFill>
                <a:latin typeface="Yu Gothic"/>
              </a:rPr>
              <a:t>7-3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62656"/>
            <a:ext cx="475488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Yu Gothic"/>
              </a:rPr>
              <a:t>必要書類チェックシート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9584"/>
            <a:ext cx="54864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1">
                <a:solidFill>
                  <a:srgbClr val="4FB6BE"/>
                </a:solidFill>
                <a:latin typeface="Yu Gothic"/>
              </a:rPr>
              <a:t>7-4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29584"/>
            <a:ext cx="475488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Yu Gothic"/>
              </a:rPr>
              <a:t>登録時forms（登録チームが格納）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5303520" cy="457200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530352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📣 Teamsで @登録チーム →「○○○さんの登録書類を格納しました」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280160"/>
            <a:ext cx="5577840" cy="33832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1280160"/>
            <a:ext cx="5577840" cy="411480"/>
          </a:xfrm>
          <a:prstGeom prst="roundRect">
            <a:avLst>
              <a:gd name="adj" fmla="val 8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485900"/>
            <a:ext cx="5577840" cy="20574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280160"/>
            <a:ext cx="557784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✅ 格納前チェックリスト（拠点）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783080"/>
            <a:ext cx="5303520" cy="2834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□ 契約書の氏名（1P・8P・宣誓書①②）が免許証と同じ漢字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□ 書類は鮮明（ぼやけ・見切れ・反射なし）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□ 顔写真・チェックシート以外はPDF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□ 免許証は表・裏の両方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□ 車両書類は期限内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□ 外国籍：在留カード・住民票あり／氏名は免許証準拠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□ ファイル名・DAフォルダが正しい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Yu Gothic"/>
              </a:rPr>
              <a:t>□ チェックシートの携帯貸与欄などの入力漏れなし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7548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⑧〜⑪ 登録フロー（委託DAの場合）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07492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12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093208"/>
            <a:ext cx="26974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150" b="1">
                <a:solidFill>
                  <a:srgbClr val="E12A82"/>
                </a:solidFill>
                <a:latin typeface="Yu Gothic"/>
              </a:rPr>
              <a:t>⑧ DA登録開始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76672"/>
            <a:ext cx="251460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050" b="0">
                <a:solidFill>
                  <a:srgbClr val="666666"/>
                </a:solidFill>
                <a:latin typeface="Yu Gothic"/>
              </a:rPr>
              <a:t>Amazon招待メール受信後、免許証アップロードまで完了→@登録チーム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0672" y="5486400"/>
            <a:ext cx="2286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Yu Gothic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64408" y="507492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2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4408" y="5093208"/>
            <a:ext cx="26974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150" b="1">
                <a:solidFill>
                  <a:srgbClr val="126EC9"/>
                </a:solidFill>
                <a:latin typeface="Yu Gothic"/>
              </a:rPr>
              <a:t>⑨ Disprz視聴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5848" y="5376672"/>
            <a:ext cx="251460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050" b="0">
                <a:solidFill>
                  <a:srgbClr val="666666"/>
                </a:solidFill>
                <a:latin typeface="Yu Gothic"/>
              </a:rPr>
              <a:t>全項目completeで@登録チームへTeams連絡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486400"/>
            <a:ext cx="2286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Yu Gothic"/>
              </a:rPr>
              <a:t>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17336" y="507492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12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17336" y="5093208"/>
            <a:ext cx="26974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150" b="1">
                <a:solidFill>
                  <a:srgbClr val="E12A82"/>
                </a:solidFill>
                <a:latin typeface="Yu Gothic"/>
              </a:rPr>
              <a:t>⑩ Background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5376672"/>
            <a:ext cx="251460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050" b="0">
                <a:solidFill>
                  <a:srgbClr val="666666"/>
                </a:solidFill>
                <a:latin typeface="Yu Gothic"/>
              </a:rPr>
              <a:t>身辺調査完了の通知後@登録チームへTeams連絡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5486400"/>
            <a:ext cx="2286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Yu Gothic"/>
              </a:rPr>
              <a:t>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70263" y="507492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4CA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70263" y="5093208"/>
            <a:ext cx="26974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150" b="1">
                <a:solidFill>
                  <a:srgbClr val="4CAF6A"/>
                </a:solidFill>
                <a:latin typeface="Yu Gothic"/>
              </a:rPr>
              <a:t>⑪ 登録完了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3" y="5376672"/>
            <a:ext cx="251460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050" b="0">
                <a:solidFill>
                  <a:srgbClr val="666666"/>
                </a:solidFill>
                <a:latin typeface="Yu Gothic"/>
              </a:rPr>
              <a:t>登録チームが最終確認・Amazon最終承認→拠点へ連絡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重要ポイント まとめ（採用〜登録）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11338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47472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1060704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クラウドサインの氏名は、必ず免許証に載っている漢字で（署名・記名・送付先すべて）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93392"/>
            <a:ext cx="11338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08483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84832"/>
            <a:ext cx="347472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93392"/>
            <a:ext cx="1060704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齋藤／斎藤／斉藤、渡邉／渡辺／渡部、髙橋／高橋、山﨑／山崎 などは別字 → 券面と1字ずつ照合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615184"/>
            <a:ext cx="11338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70662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06624"/>
            <a:ext cx="347472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615184"/>
            <a:ext cx="1060704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送信前に免許証を確認（1通200円・再送を防ぐ）。外国籍も免許証記載の名前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236976"/>
            <a:ext cx="11338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32841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F2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28416"/>
            <a:ext cx="347472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236976"/>
            <a:ext cx="1060704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書類がぼやけている写真はNG。読めない・見切れ・反射は再提出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858768"/>
            <a:ext cx="11338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95020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950208"/>
            <a:ext cx="347472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858768"/>
            <a:ext cx="1060704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必要書類は顔写真・チェックシート以外はPDFで提出・格納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480560"/>
            <a:ext cx="11338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57200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572000"/>
            <a:ext cx="347472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480560"/>
            <a:ext cx="1060704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面接の最終承認は拠点長（不在時はエリアマネージャー）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02352"/>
            <a:ext cx="11338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51937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93792"/>
            <a:ext cx="347472" cy="34747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102352"/>
            <a:ext cx="1060704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Yu Gothic"/>
              </a:rPr>
              <a:t>各ステップ完了後は必ずTeamsで @登録チーム をメンション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5806440"/>
            <a:ext cx="11338560" cy="41148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806440"/>
            <a:ext cx="1133856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登録チーム連絡先：entry@gopal.co.jp ｜ 担当：大八木・明石・加賀谷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ユーザー定義 4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83b202c-ae80-4e15-8c69-6a1d9998050a">
      <Terms xmlns="http://schemas.microsoft.com/office/infopath/2007/PartnerControls"/>
    </lcf76f155ced4ddcb4097134ff3c332f>
    <TaxCatchAll xmlns="8ce37a9d-ae0a-4fdd-8655-54933143681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C6ACA214567D47A6078E47D8ED1BBE" ma:contentTypeVersion="13" ma:contentTypeDescription="Create a new document." ma:contentTypeScope="" ma:versionID="f730d0620a671d9ab611de6530dc9132">
  <xsd:schema xmlns:xsd="http://www.w3.org/2001/XMLSchema" xmlns:xs="http://www.w3.org/2001/XMLSchema" xmlns:p="http://schemas.microsoft.com/office/2006/metadata/properties" xmlns:ns2="183b202c-ae80-4e15-8c69-6a1d9998050a" xmlns:ns3="8ce37a9d-ae0a-4fdd-8655-549331436814" targetNamespace="http://schemas.microsoft.com/office/2006/metadata/properties" ma:root="true" ma:fieldsID="a496316d1bb1511e89dfc4f649fc0d5c" ns2:_="" ns3:_="">
    <xsd:import namespace="183b202c-ae80-4e15-8c69-6a1d9998050a"/>
    <xsd:import namespace="8ce37a9d-ae0a-4fdd-8655-5493314368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3b202c-ae80-4e15-8c69-6a1d999805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0122028-6687-4c6d-9ac4-9fc83d8b00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e37a9d-ae0a-4fdd-8655-54933143681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bd1bf5a-518c-46d2-882f-9da665aaccff}" ma:internalName="TaxCatchAll" ma:showField="CatchAllData" ma:web="8ce37a9d-ae0a-4fdd-8655-54933143681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C3C1EE-4368-4A3B-9235-E28EC1CBF6E7}">
  <ds:schemaRefs>
    <ds:schemaRef ds:uri="http://purl.org/dc/elements/1.1/"/>
    <ds:schemaRef ds:uri="http://www.w3.org/XML/1998/namespace"/>
    <ds:schemaRef ds:uri="http://purl.org/dc/terms/"/>
    <ds:schemaRef ds:uri="http://schemas.microsoft.com/office/2006/metadata/properties"/>
    <ds:schemaRef ds:uri="183b202c-ae80-4e15-8c69-6a1d999805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8ce37a9d-ae0a-4fdd-8655-549331436814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8BB61EC-F26E-4C1E-B389-0F6EB507E6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7BFD4-A81D-4B15-8522-54C315E8E0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3b202c-ae80-4e15-8c69-6a1d9998050a"/>
    <ds:schemaRef ds:uri="8ce37a9d-ae0a-4fdd-8655-5493314368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デザインの設定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中村 啓人</dc:creator>
  <cp:lastModifiedBy>川崎 優</cp:lastModifiedBy>
  <cp:revision>6</cp:revision>
  <dcterms:created xsi:type="dcterms:W3CDTF">2025-01-07T03:42:06Z</dcterms:created>
  <dcterms:modified xsi:type="dcterms:W3CDTF">2026-07-16T04:53:35Z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0x0101008EC6ACA214567D47A6078E47D8ED1BBE</vt:lpwstr>
  </property>
  <property fmtid="{D5CDD505-2E9C-101B-9397-08002B2CF9AE}" pid="3" name="MediaServiceImageTags">
    <vt:lpwstr/>
  </property>
</Properties>
</file>